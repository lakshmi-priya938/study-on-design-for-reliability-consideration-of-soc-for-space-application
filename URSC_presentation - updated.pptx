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1" r:id="rId1"/>
  </p:sldMasterIdLst>
  <p:notesMasterIdLst>
    <p:notesMasterId r:id="rId15"/>
  </p:notesMasterIdLst>
  <p:sldIdLst>
    <p:sldId id="256" r:id="rId2"/>
    <p:sldId id="257" r:id="rId3"/>
    <p:sldId id="267" r:id="rId4"/>
    <p:sldId id="258" r:id="rId5"/>
    <p:sldId id="259" r:id="rId6"/>
    <p:sldId id="266" r:id="rId7"/>
    <p:sldId id="260" r:id="rId8"/>
    <p:sldId id="268" r:id="rId9"/>
    <p:sldId id="261" r:id="rId10"/>
    <p:sldId id="262" r:id="rId11"/>
    <p:sldId id="263" r:id="rId12"/>
    <p:sldId id="264" r:id="rId13"/>
    <p:sldId id="265"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4D3E3-E68D-4721-94DA-4853898138A6}" v="2" dt="2025-11-14T13:45:11.932"/>
    <p1510:client id="{A5A7BF18-31C4-429C-A8CF-4EB7DA7CF760}" v="34" dt="2025-11-13T19:50:22.4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sha S" userId="18ef33326037d1b8" providerId="LiveId" clId="{894BDF69-B579-4B5F-BC27-85F15EB6F57D}"/>
    <pc:docChg chg="modSld">
      <pc:chgData name="Monisha S" userId="18ef33326037d1b8" providerId="LiveId" clId="{894BDF69-B579-4B5F-BC27-85F15EB6F57D}" dt="2025-11-14T13:45:45.645" v="46" actId="20577"/>
      <pc:docMkLst>
        <pc:docMk/>
      </pc:docMkLst>
      <pc:sldChg chg="modSp mod">
        <pc:chgData name="Monisha S" userId="18ef33326037d1b8" providerId="LiveId" clId="{894BDF69-B579-4B5F-BC27-85F15EB6F57D}" dt="2025-11-14T13:45:45.645" v="46" actId="20577"/>
        <pc:sldMkLst>
          <pc:docMk/>
          <pc:sldMk cId="0" sldId="263"/>
        </pc:sldMkLst>
        <pc:spChg chg="mod">
          <ac:chgData name="Monisha S" userId="18ef33326037d1b8" providerId="LiveId" clId="{894BDF69-B579-4B5F-BC27-85F15EB6F57D}" dt="2025-11-14T13:45:45.645" v="46" actId="20577"/>
          <ac:spMkLst>
            <pc:docMk/>
            <pc:sldMk cId="0" sldId="263"/>
            <ac:spMk id="5" creationId="{FA9C3E5E-B915-DEB3-1B96-356C8C9C70E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16E697-D89B-46ED-820C-552D55586DC0}" type="datetimeFigureOut">
              <a:rPr lang="en-IN" smtClean="0"/>
              <a:t>14-11-2025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2A256-3EF6-4BEE-B592-574006ACDEE1}" type="slidenum">
              <a:rPr lang="en-IN" smtClean="0"/>
              <a:t>‹#›</a:t>
            </a:fld>
            <a:endParaRPr lang="en-IN"/>
          </a:p>
        </p:txBody>
      </p:sp>
    </p:spTree>
    <p:extLst>
      <p:ext uri="{BB962C8B-B14F-4D97-AF65-F5344CB8AC3E}">
        <p14:creationId xmlns:p14="http://schemas.microsoft.com/office/powerpoint/2010/main" val="1611729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2B362-5E84-CAB0-342D-4636BDCC093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7BD7E1A1-17A2-4E3A-5794-BB606E5EE8A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2D0F37-8540-4896-3727-BF73F587EDC3}"/>
              </a:ext>
            </a:extLst>
          </p:cNvPr>
          <p:cNvSpPr>
            <a:spLocks noGrp="1"/>
          </p:cNvSpPr>
          <p:nvPr>
            <p:ph type="dt" sz="half" idx="10"/>
          </p:nvPr>
        </p:nvSpPr>
        <p:spPr/>
        <p:txBody>
          <a:bodyPr/>
          <a:lstStyle/>
          <a:p>
            <a:fld id="{A0545457-1150-42C6-9D46-B2B34798317D}" type="datetime1">
              <a:rPr lang="en-US" smtClean="0"/>
              <a:t>11/14/2025</a:t>
            </a:fld>
            <a:endParaRPr lang="en-US"/>
          </a:p>
        </p:txBody>
      </p:sp>
      <p:sp>
        <p:nvSpPr>
          <p:cNvPr id="5" name="Footer Placeholder 4">
            <a:extLst>
              <a:ext uri="{FF2B5EF4-FFF2-40B4-BE49-F238E27FC236}">
                <a16:creationId xmlns:a16="http://schemas.microsoft.com/office/drawing/2014/main" id="{DD321897-3219-5DE4-C0B4-312F2301FFAB}"/>
              </a:ext>
            </a:extLst>
          </p:cNvPr>
          <p:cNvSpPr>
            <a:spLocks noGrp="1"/>
          </p:cNvSpPr>
          <p:nvPr>
            <p:ph type="ftr" sz="quarter" idx="11"/>
          </p:nvPr>
        </p:nvSpPr>
        <p:spPr/>
        <p:txBody>
          <a:body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BC7C8C78-18F1-601E-8051-A07E258F96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43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EE41-8E80-15C1-0C19-36F465CAFB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F6E839-C513-54AC-773A-9813A4631B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886DB7-AF4C-C3D2-ADE9-D5ACA338114C}"/>
              </a:ext>
            </a:extLst>
          </p:cNvPr>
          <p:cNvSpPr>
            <a:spLocks noGrp="1"/>
          </p:cNvSpPr>
          <p:nvPr>
            <p:ph type="dt" sz="half" idx="10"/>
          </p:nvPr>
        </p:nvSpPr>
        <p:spPr/>
        <p:txBody>
          <a:bodyPr/>
          <a:lstStyle/>
          <a:p>
            <a:fld id="{B52328E4-AE58-42B2-A0FB-81EDC668A346}" type="datetime1">
              <a:rPr lang="en-US" smtClean="0"/>
              <a:t>11/14/2025</a:t>
            </a:fld>
            <a:endParaRPr lang="en-US"/>
          </a:p>
        </p:txBody>
      </p:sp>
      <p:sp>
        <p:nvSpPr>
          <p:cNvPr id="5" name="Footer Placeholder 4">
            <a:extLst>
              <a:ext uri="{FF2B5EF4-FFF2-40B4-BE49-F238E27FC236}">
                <a16:creationId xmlns:a16="http://schemas.microsoft.com/office/drawing/2014/main" id="{01C9596B-AC79-07AB-BCA7-583B98CEA198}"/>
              </a:ext>
            </a:extLst>
          </p:cNvPr>
          <p:cNvSpPr>
            <a:spLocks noGrp="1"/>
          </p:cNvSpPr>
          <p:nvPr>
            <p:ph type="ftr" sz="quarter" idx="11"/>
          </p:nvPr>
        </p:nvSpPr>
        <p:spPr/>
        <p:txBody>
          <a:body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98188A6D-3D76-C25B-B13B-FF1D8BED804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4144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82B6B-106B-27AB-98F4-EF6625764FA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9390AD-D3DD-944E-A734-E2B56F52494A}"/>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075293-472F-EE3E-8CBD-BB707445457D}"/>
              </a:ext>
            </a:extLst>
          </p:cNvPr>
          <p:cNvSpPr>
            <a:spLocks noGrp="1"/>
          </p:cNvSpPr>
          <p:nvPr>
            <p:ph type="dt" sz="half" idx="10"/>
          </p:nvPr>
        </p:nvSpPr>
        <p:spPr/>
        <p:txBody>
          <a:bodyPr/>
          <a:lstStyle/>
          <a:p>
            <a:fld id="{EBFB78E3-EA58-45C3-8135-927AAB63D54E}" type="datetime1">
              <a:rPr lang="en-US" smtClean="0"/>
              <a:t>11/14/2025</a:t>
            </a:fld>
            <a:endParaRPr lang="en-US"/>
          </a:p>
        </p:txBody>
      </p:sp>
      <p:sp>
        <p:nvSpPr>
          <p:cNvPr id="5" name="Footer Placeholder 4">
            <a:extLst>
              <a:ext uri="{FF2B5EF4-FFF2-40B4-BE49-F238E27FC236}">
                <a16:creationId xmlns:a16="http://schemas.microsoft.com/office/drawing/2014/main" id="{ADEEDF72-B507-F249-B37F-A857E1F92596}"/>
              </a:ext>
            </a:extLst>
          </p:cNvPr>
          <p:cNvSpPr>
            <a:spLocks noGrp="1"/>
          </p:cNvSpPr>
          <p:nvPr>
            <p:ph type="ftr" sz="quarter" idx="11"/>
          </p:nvPr>
        </p:nvSpPr>
        <p:spPr/>
        <p:txBody>
          <a:body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2E6728A8-A2B8-4D7E-8738-DFEA3B3B062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9127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A3652-A9A8-4CAA-405B-1F204795B2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8C4C68-9394-CBBF-5F1F-72380DFFC31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CD2C50-7922-3403-AA86-AA09DCB873E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5C557C-EB20-AB69-B6F9-B27CEE4B2A3C}"/>
              </a:ext>
            </a:extLst>
          </p:cNvPr>
          <p:cNvSpPr>
            <a:spLocks noGrp="1"/>
          </p:cNvSpPr>
          <p:nvPr>
            <p:ph type="dt" sz="half" idx="10"/>
          </p:nvPr>
        </p:nvSpPr>
        <p:spPr/>
        <p:txBody>
          <a:bodyPr/>
          <a:lstStyle/>
          <a:p>
            <a:fld id="{3997F7EF-BA03-4379-8C99-404C897235E8}" type="datetime1">
              <a:rPr lang="en-US" smtClean="0"/>
              <a:t>11/14/2025</a:t>
            </a:fld>
            <a:endParaRPr lang="en-US"/>
          </a:p>
        </p:txBody>
      </p:sp>
      <p:sp>
        <p:nvSpPr>
          <p:cNvPr id="6" name="Footer Placeholder 5">
            <a:extLst>
              <a:ext uri="{FF2B5EF4-FFF2-40B4-BE49-F238E27FC236}">
                <a16:creationId xmlns:a16="http://schemas.microsoft.com/office/drawing/2014/main" id="{3D0C3987-D93B-0D70-C1AE-50B65B4F8105}"/>
              </a:ext>
            </a:extLst>
          </p:cNvPr>
          <p:cNvSpPr>
            <a:spLocks noGrp="1"/>
          </p:cNvSpPr>
          <p:nvPr>
            <p:ph type="ftr" sz="quarter" idx="11"/>
          </p:nvPr>
        </p:nvSpPr>
        <p:spPr/>
        <p:txBody>
          <a:bodyPr/>
          <a:lstStyle/>
          <a:p>
            <a:r>
              <a:rPr lang="en-US"/>
              <a:t>STUDY ON DESIGN FOR RELIABILITY CONSIDERATION OF SoC FOR SPACE APPLICATION</a:t>
            </a:r>
          </a:p>
        </p:txBody>
      </p:sp>
      <p:sp>
        <p:nvSpPr>
          <p:cNvPr id="7" name="Slide Number Placeholder 6">
            <a:extLst>
              <a:ext uri="{FF2B5EF4-FFF2-40B4-BE49-F238E27FC236}">
                <a16:creationId xmlns:a16="http://schemas.microsoft.com/office/drawing/2014/main" id="{3E1B9DEF-30CC-115B-02C2-3330A99598A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3071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38CA-A8DF-8A99-2631-042B832188B2}"/>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D16BF7-FF9C-9BB9-E741-22EDB0F7C82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37AF219-37D7-BE22-F37D-51982C4C86E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70C5B1D-78D4-75BF-B551-27112905360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F65036D-C609-4B63-2C81-F459FA7BDD4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39E5F8-F1C9-7062-E46A-03E34D5BA243}"/>
              </a:ext>
            </a:extLst>
          </p:cNvPr>
          <p:cNvSpPr>
            <a:spLocks noGrp="1"/>
          </p:cNvSpPr>
          <p:nvPr>
            <p:ph type="dt" sz="half" idx="10"/>
          </p:nvPr>
        </p:nvSpPr>
        <p:spPr/>
        <p:txBody>
          <a:bodyPr/>
          <a:lstStyle/>
          <a:p>
            <a:fld id="{4ACCE88A-7E28-4876-9624-19D04D608FA4}" type="datetime1">
              <a:rPr lang="en-US" smtClean="0"/>
              <a:t>11/14/2025</a:t>
            </a:fld>
            <a:endParaRPr lang="en-US"/>
          </a:p>
        </p:txBody>
      </p:sp>
      <p:sp>
        <p:nvSpPr>
          <p:cNvPr id="8" name="Footer Placeholder 7">
            <a:extLst>
              <a:ext uri="{FF2B5EF4-FFF2-40B4-BE49-F238E27FC236}">
                <a16:creationId xmlns:a16="http://schemas.microsoft.com/office/drawing/2014/main" id="{86D93599-199C-60CD-3285-933FFB56CB1F}"/>
              </a:ext>
            </a:extLst>
          </p:cNvPr>
          <p:cNvSpPr>
            <a:spLocks noGrp="1"/>
          </p:cNvSpPr>
          <p:nvPr>
            <p:ph type="ftr" sz="quarter" idx="11"/>
          </p:nvPr>
        </p:nvSpPr>
        <p:spPr/>
        <p:txBody>
          <a:bodyPr/>
          <a:lstStyle/>
          <a:p>
            <a:r>
              <a:rPr lang="en-US"/>
              <a:t>STUDY ON DESIGN FOR RELIABILITY CONSIDERATION OF SoC FOR SPACE APPLICATION</a:t>
            </a:r>
          </a:p>
        </p:txBody>
      </p:sp>
      <p:sp>
        <p:nvSpPr>
          <p:cNvPr id="9" name="Slide Number Placeholder 8">
            <a:extLst>
              <a:ext uri="{FF2B5EF4-FFF2-40B4-BE49-F238E27FC236}">
                <a16:creationId xmlns:a16="http://schemas.microsoft.com/office/drawing/2014/main" id="{41E73BBF-A86C-312E-9374-722695AE0D7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6498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6B44E-50F1-91E0-D134-B03524534B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F5929D-2BE4-3C14-C67F-2A33C503CD43}"/>
              </a:ext>
            </a:extLst>
          </p:cNvPr>
          <p:cNvSpPr>
            <a:spLocks noGrp="1"/>
          </p:cNvSpPr>
          <p:nvPr>
            <p:ph type="dt" sz="half" idx="10"/>
          </p:nvPr>
        </p:nvSpPr>
        <p:spPr/>
        <p:txBody>
          <a:bodyPr/>
          <a:lstStyle/>
          <a:p>
            <a:fld id="{28CDDBD8-20D7-4C09-9C22-A787A8B5107E}" type="datetime1">
              <a:rPr lang="en-US" smtClean="0"/>
              <a:t>11/14/2025</a:t>
            </a:fld>
            <a:endParaRPr lang="en-US"/>
          </a:p>
        </p:txBody>
      </p:sp>
      <p:sp>
        <p:nvSpPr>
          <p:cNvPr id="4" name="Footer Placeholder 3">
            <a:extLst>
              <a:ext uri="{FF2B5EF4-FFF2-40B4-BE49-F238E27FC236}">
                <a16:creationId xmlns:a16="http://schemas.microsoft.com/office/drawing/2014/main" id="{AC908EDB-9909-D749-1B3E-55D5C9E1D79C}"/>
              </a:ext>
            </a:extLst>
          </p:cNvPr>
          <p:cNvSpPr>
            <a:spLocks noGrp="1"/>
          </p:cNvSpPr>
          <p:nvPr>
            <p:ph type="ftr" sz="quarter" idx="11"/>
          </p:nvPr>
        </p:nvSpPr>
        <p:spPr/>
        <p:txBody>
          <a:bodyPr/>
          <a:lstStyle/>
          <a:p>
            <a:r>
              <a:rPr lang="en-US"/>
              <a:t>STUDY ON DESIGN FOR RELIABILITY CONSIDERATION OF SoC FOR SPACE APPLICATION</a:t>
            </a:r>
          </a:p>
        </p:txBody>
      </p:sp>
      <p:sp>
        <p:nvSpPr>
          <p:cNvPr id="5" name="Slide Number Placeholder 4">
            <a:extLst>
              <a:ext uri="{FF2B5EF4-FFF2-40B4-BE49-F238E27FC236}">
                <a16:creationId xmlns:a16="http://schemas.microsoft.com/office/drawing/2014/main" id="{2E51338B-D8FC-C0F0-8ED7-AE15764C828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7918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D980A1-FB1B-714D-8AFF-AEB037CCC943}"/>
              </a:ext>
            </a:extLst>
          </p:cNvPr>
          <p:cNvSpPr>
            <a:spLocks noGrp="1"/>
          </p:cNvSpPr>
          <p:nvPr>
            <p:ph type="dt" sz="half" idx="10"/>
          </p:nvPr>
        </p:nvSpPr>
        <p:spPr/>
        <p:txBody>
          <a:bodyPr/>
          <a:lstStyle/>
          <a:p>
            <a:fld id="{F87BB524-3FBE-4E7C-8DA7-4355E6E18498}" type="datetime1">
              <a:rPr lang="en-US" smtClean="0"/>
              <a:t>11/14/2025</a:t>
            </a:fld>
            <a:endParaRPr lang="en-US"/>
          </a:p>
        </p:txBody>
      </p:sp>
      <p:sp>
        <p:nvSpPr>
          <p:cNvPr id="3" name="Footer Placeholder 2">
            <a:extLst>
              <a:ext uri="{FF2B5EF4-FFF2-40B4-BE49-F238E27FC236}">
                <a16:creationId xmlns:a16="http://schemas.microsoft.com/office/drawing/2014/main" id="{9C66B71F-1D77-4834-12A9-63B84C0C3E8A}"/>
              </a:ext>
            </a:extLst>
          </p:cNvPr>
          <p:cNvSpPr>
            <a:spLocks noGrp="1"/>
          </p:cNvSpPr>
          <p:nvPr>
            <p:ph type="ftr" sz="quarter" idx="11"/>
          </p:nvPr>
        </p:nvSpPr>
        <p:spPr/>
        <p:txBody>
          <a:bodyPr/>
          <a:lstStyle/>
          <a:p>
            <a:r>
              <a:rPr lang="en-US"/>
              <a:t>STUDY ON DESIGN FOR RELIABILITY CONSIDERATION OF SoC FOR SPACE APPLICATION</a:t>
            </a:r>
          </a:p>
        </p:txBody>
      </p:sp>
      <p:sp>
        <p:nvSpPr>
          <p:cNvPr id="4" name="Slide Number Placeholder 3">
            <a:extLst>
              <a:ext uri="{FF2B5EF4-FFF2-40B4-BE49-F238E27FC236}">
                <a16:creationId xmlns:a16="http://schemas.microsoft.com/office/drawing/2014/main" id="{F6D58069-052D-5464-611A-7CB38BDC5D7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852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A0D3B-5D8E-FEAB-31AB-901FA9EAF3F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991AD44-77D9-6D0D-48A0-325D6E199ED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F1AA42-0D29-C81A-E61E-6401F0DD1A9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BA208A0-FE3E-97AA-539B-DB4C7FD1649B}"/>
              </a:ext>
            </a:extLst>
          </p:cNvPr>
          <p:cNvSpPr>
            <a:spLocks noGrp="1"/>
          </p:cNvSpPr>
          <p:nvPr>
            <p:ph type="dt" sz="half" idx="10"/>
          </p:nvPr>
        </p:nvSpPr>
        <p:spPr/>
        <p:txBody>
          <a:bodyPr/>
          <a:lstStyle/>
          <a:p>
            <a:fld id="{28D0325E-42E8-426D-85A8-13623E48F7E6}" type="datetime1">
              <a:rPr lang="en-US" smtClean="0"/>
              <a:t>11/14/2025</a:t>
            </a:fld>
            <a:endParaRPr lang="en-US"/>
          </a:p>
        </p:txBody>
      </p:sp>
      <p:sp>
        <p:nvSpPr>
          <p:cNvPr id="6" name="Footer Placeholder 5">
            <a:extLst>
              <a:ext uri="{FF2B5EF4-FFF2-40B4-BE49-F238E27FC236}">
                <a16:creationId xmlns:a16="http://schemas.microsoft.com/office/drawing/2014/main" id="{7276FE59-0599-2EC2-CF36-599842920DA1}"/>
              </a:ext>
            </a:extLst>
          </p:cNvPr>
          <p:cNvSpPr>
            <a:spLocks noGrp="1"/>
          </p:cNvSpPr>
          <p:nvPr>
            <p:ph type="ftr" sz="quarter" idx="11"/>
          </p:nvPr>
        </p:nvSpPr>
        <p:spPr/>
        <p:txBody>
          <a:bodyPr/>
          <a:lstStyle/>
          <a:p>
            <a:r>
              <a:rPr lang="en-US"/>
              <a:t>STUDY ON DESIGN FOR RELIABILITY CONSIDERATION OF SoC FOR SPACE APPLICATION</a:t>
            </a:r>
          </a:p>
        </p:txBody>
      </p:sp>
      <p:sp>
        <p:nvSpPr>
          <p:cNvPr id="7" name="Slide Number Placeholder 6">
            <a:extLst>
              <a:ext uri="{FF2B5EF4-FFF2-40B4-BE49-F238E27FC236}">
                <a16:creationId xmlns:a16="http://schemas.microsoft.com/office/drawing/2014/main" id="{77D6DE16-1634-F861-2380-8690C74CEC1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7697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B6F7-A808-8C92-498E-8CF407548E0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D82A08-E842-4510-DAD3-E22F633E816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75E26B5C-5BED-5F43-521C-BB032877595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AA2F0B3-5B63-3BDF-D82B-A98D5FFF0780}"/>
              </a:ext>
            </a:extLst>
          </p:cNvPr>
          <p:cNvSpPr>
            <a:spLocks noGrp="1"/>
          </p:cNvSpPr>
          <p:nvPr>
            <p:ph type="dt" sz="half" idx="10"/>
          </p:nvPr>
        </p:nvSpPr>
        <p:spPr/>
        <p:txBody>
          <a:bodyPr/>
          <a:lstStyle/>
          <a:p>
            <a:fld id="{4AFDD72D-6104-4ACE-B7C8-B5C31735DAFF}" type="datetime1">
              <a:rPr lang="en-US" smtClean="0"/>
              <a:t>11/14/2025</a:t>
            </a:fld>
            <a:endParaRPr lang="en-US"/>
          </a:p>
        </p:txBody>
      </p:sp>
      <p:sp>
        <p:nvSpPr>
          <p:cNvPr id="6" name="Footer Placeholder 5">
            <a:extLst>
              <a:ext uri="{FF2B5EF4-FFF2-40B4-BE49-F238E27FC236}">
                <a16:creationId xmlns:a16="http://schemas.microsoft.com/office/drawing/2014/main" id="{0AFAF4E8-60A7-8B51-1C7F-DE199CDEB4A8}"/>
              </a:ext>
            </a:extLst>
          </p:cNvPr>
          <p:cNvSpPr>
            <a:spLocks noGrp="1"/>
          </p:cNvSpPr>
          <p:nvPr>
            <p:ph type="ftr" sz="quarter" idx="11"/>
          </p:nvPr>
        </p:nvSpPr>
        <p:spPr/>
        <p:txBody>
          <a:bodyPr/>
          <a:lstStyle/>
          <a:p>
            <a:r>
              <a:rPr lang="en-US"/>
              <a:t>STUDY ON DESIGN FOR RELIABILITY CONSIDERATION OF SoC FOR SPACE APPLICATION</a:t>
            </a:r>
          </a:p>
        </p:txBody>
      </p:sp>
      <p:sp>
        <p:nvSpPr>
          <p:cNvPr id="7" name="Slide Number Placeholder 6">
            <a:extLst>
              <a:ext uri="{FF2B5EF4-FFF2-40B4-BE49-F238E27FC236}">
                <a16:creationId xmlns:a16="http://schemas.microsoft.com/office/drawing/2014/main" id="{EFB608AC-5556-ADFA-E471-14DD78D7000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126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0E911-AF33-EA72-5EDA-B77F2688EC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3FD935-8A3A-743A-DB34-B9FFFC4B3F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A47810-AC70-2876-4A4E-57920C9384AE}"/>
              </a:ext>
            </a:extLst>
          </p:cNvPr>
          <p:cNvSpPr>
            <a:spLocks noGrp="1"/>
          </p:cNvSpPr>
          <p:nvPr>
            <p:ph type="dt" sz="half" idx="10"/>
          </p:nvPr>
        </p:nvSpPr>
        <p:spPr/>
        <p:txBody>
          <a:bodyPr/>
          <a:lstStyle/>
          <a:p>
            <a:fld id="{3D0EDD05-9B13-43B9-92BE-1313357A07D1}" type="datetime1">
              <a:rPr lang="en-US" smtClean="0"/>
              <a:t>11/14/2025</a:t>
            </a:fld>
            <a:endParaRPr lang="en-US"/>
          </a:p>
        </p:txBody>
      </p:sp>
      <p:sp>
        <p:nvSpPr>
          <p:cNvPr id="5" name="Footer Placeholder 4">
            <a:extLst>
              <a:ext uri="{FF2B5EF4-FFF2-40B4-BE49-F238E27FC236}">
                <a16:creationId xmlns:a16="http://schemas.microsoft.com/office/drawing/2014/main" id="{DFB8A804-0829-4F7A-4FCC-5FF7EA04AB43}"/>
              </a:ext>
            </a:extLst>
          </p:cNvPr>
          <p:cNvSpPr>
            <a:spLocks noGrp="1"/>
          </p:cNvSpPr>
          <p:nvPr>
            <p:ph type="ftr" sz="quarter" idx="11"/>
          </p:nvPr>
        </p:nvSpPr>
        <p:spPr/>
        <p:txBody>
          <a:body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20E1B15D-863B-F952-4203-05B760E95EC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0620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73795E-CDB8-ADA2-1F5B-5A3FAE94686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40056E-6FAB-D1D9-64D7-00C30DA5F6D0}"/>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A9920A-6754-809C-BA74-DF4B0E9226EC}"/>
              </a:ext>
            </a:extLst>
          </p:cNvPr>
          <p:cNvSpPr>
            <a:spLocks noGrp="1"/>
          </p:cNvSpPr>
          <p:nvPr>
            <p:ph type="dt" sz="half" idx="10"/>
          </p:nvPr>
        </p:nvSpPr>
        <p:spPr/>
        <p:txBody>
          <a:bodyPr/>
          <a:lstStyle/>
          <a:p>
            <a:fld id="{C189880A-2CD6-4FA8-9462-806F39A281F7}" type="datetime1">
              <a:rPr lang="en-US" smtClean="0"/>
              <a:t>11/14/2025</a:t>
            </a:fld>
            <a:endParaRPr lang="en-US"/>
          </a:p>
        </p:txBody>
      </p:sp>
      <p:sp>
        <p:nvSpPr>
          <p:cNvPr id="5" name="Footer Placeholder 4">
            <a:extLst>
              <a:ext uri="{FF2B5EF4-FFF2-40B4-BE49-F238E27FC236}">
                <a16:creationId xmlns:a16="http://schemas.microsoft.com/office/drawing/2014/main" id="{8B18A8EB-3624-F648-8416-3E590DE6FCBD}"/>
              </a:ext>
            </a:extLst>
          </p:cNvPr>
          <p:cNvSpPr>
            <a:spLocks noGrp="1"/>
          </p:cNvSpPr>
          <p:nvPr>
            <p:ph type="ftr" sz="quarter" idx="11"/>
          </p:nvPr>
        </p:nvSpPr>
        <p:spPr/>
        <p:txBody>
          <a:body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75F8DDD0-0266-0FD3-E342-0BE2D55CF20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8816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3EFD2-6E5E-0BE8-7D2D-50D9E43D98B0}"/>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ACCDCC-C5FA-5577-7B20-9F1725AD683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8454A9-D075-7A74-9D95-8BF216830F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207E311-35DD-4C27-AFE4-7FFB189C6419}" type="datetime1">
              <a:rPr lang="en-US" smtClean="0"/>
              <a:t>11/14/2025</a:t>
            </a:fld>
            <a:endParaRPr lang="en-US"/>
          </a:p>
        </p:txBody>
      </p:sp>
      <p:sp>
        <p:nvSpPr>
          <p:cNvPr id="5" name="Footer Placeholder 4">
            <a:extLst>
              <a:ext uri="{FF2B5EF4-FFF2-40B4-BE49-F238E27FC236}">
                <a16:creationId xmlns:a16="http://schemas.microsoft.com/office/drawing/2014/main" id="{5D7A0739-23DF-4E36-BAB5-B1AA76C3214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STUDY ON DESIGN FOR RELIABILITY CONSIDERATION OF SoC FOR SPACE APPLICATION</a:t>
            </a:r>
          </a:p>
        </p:txBody>
      </p:sp>
      <p:sp>
        <p:nvSpPr>
          <p:cNvPr id="6" name="Slide Number Placeholder 5">
            <a:extLst>
              <a:ext uri="{FF2B5EF4-FFF2-40B4-BE49-F238E27FC236}">
                <a16:creationId xmlns:a16="http://schemas.microsoft.com/office/drawing/2014/main" id="{8A853849-D3B1-9F4E-46D9-65B17ECA6FE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222284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nasa.gov/sites/default/files/atoms/files/2020_nasa_technology_taxonomy.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31730"/>
            <a:ext cx="7772400" cy="1470025"/>
          </a:xfrm>
        </p:spPr>
        <p:txBody>
          <a:bodyPr>
            <a:normAutofit fontScale="90000"/>
          </a:bodyPr>
          <a:lstStyle/>
          <a:p>
            <a:r>
              <a:rPr dirty="0">
                <a:latin typeface="Times New Roman" panose="02020603050405020304" pitchFamily="18" charset="0"/>
                <a:cs typeface="Times New Roman" panose="02020603050405020304" pitchFamily="18" charset="0"/>
              </a:rPr>
              <a:t>STUDY ON DESIGN FOR RELIABILITY CONSIDERATION OF SoC FOR SPACE APPLICATION</a:t>
            </a:r>
          </a:p>
        </p:txBody>
      </p:sp>
      <p:sp>
        <p:nvSpPr>
          <p:cNvPr id="3" name="Subtitle 2"/>
          <p:cNvSpPr>
            <a:spLocks noGrp="1"/>
          </p:cNvSpPr>
          <p:nvPr>
            <p:ph type="subTitle" idx="1"/>
          </p:nvPr>
        </p:nvSpPr>
        <p:spPr>
          <a:xfrm>
            <a:off x="1143000" y="4201806"/>
            <a:ext cx="6858000" cy="1655762"/>
          </a:xfrm>
        </p:spPr>
        <p:txBody>
          <a:bodyPr>
            <a:normAutofit/>
          </a:bodyPr>
          <a:lstStyle/>
          <a:p>
            <a:r>
              <a:rPr sz="2000" dirty="0">
                <a:latin typeface="Times New Roman" panose="02020603050405020304" pitchFamily="18" charset="0"/>
                <a:cs typeface="Times New Roman" panose="02020603050405020304" pitchFamily="18" charset="0"/>
              </a:rPr>
              <a:t>Lakshmi Priya S</a:t>
            </a:r>
          </a:p>
          <a:p>
            <a:r>
              <a:rPr sz="2000" i="1" dirty="0">
                <a:latin typeface="Times New Roman" panose="02020603050405020304" pitchFamily="18" charset="0"/>
                <a:cs typeface="Times New Roman" panose="02020603050405020304" pitchFamily="18" charset="0"/>
              </a:rPr>
              <a:t>Reliability and Quality</a:t>
            </a:r>
            <a:r>
              <a:rPr lang="en-IN" sz="2000" i="1" dirty="0">
                <a:latin typeface="Times New Roman" panose="02020603050405020304" pitchFamily="18" charset="0"/>
                <a:cs typeface="Times New Roman" panose="02020603050405020304" pitchFamily="18" charset="0"/>
              </a:rPr>
              <a:t> Assurance</a:t>
            </a:r>
            <a:r>
              <a:rPr sz="2000" i="1" dirty="0">
                <a:latin typeface="Times New Roman" panose="02020603050405020304" pitchFamily="18" charset="0"/>
                <a:cs typeface="Times New Roman" panose="02020603050405020304" pitchFamily="18" charset="0"/>
              </a:rPr>
              <a:t> Hardware Group (RQHG)</a:t>
            </a:r>
          </a:p>
          <a:p>
            <a:r>
              <a:rPr sz="2000" dirty="0">
                <a:latin typeface="Times New Roman" panose="02020603050405020304" pitchFamily="18" charset="0"/>
                <a:cs typeface="Times New Roman" panose="02020603050405020304" pitchFamily="18" charset="0"/>
              </a:rPr>
              <a:t>09 Oct 2025 – 21 Nov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INTRODUCTION</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81332" y="1569987"/>
            <a:ext cx="7886700" cy="4351338"/>
          </a:xfrm>
        </p:spPr>
        <p:txBody>
          <a:bodyPr>
            <a:noAutofit/>
          </a:bodyPr>
          <a:lstStyle/>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Satellites comprise multiple systems to accomplish mission objectives such as imaging, communication, navigation, and telemetry called as payload.  </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Data Handling System(DHS) plays a pivotal role in acquiring, processing, storing, and routing digital data generated by various payload sensors and instruments.</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processed data is subsequently interfaced with the Radio Frequency (RF) subsystem for modulation, demodulation. Efficient operation of the DHS is therefore essential for maintaining the accuracy, reliability, and continuity of spacecraft mission data.</a:t>
            </a:r>
          </a:p>
          <a:p>
            <a:pPr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reliability evaluation and derating analysis of critical components within the digital data handling path, with specific emphasis on Field Programmable Gate Arrays (FPGAs) and System-on-Chip (SoC)-based architectures are performed which are present in the Integrated Avionics Package(IAP) as shown in figure 1.</a:t>
            </a:r>
          </a:p>
        </p:txBody>
      </p:sp>
      <p:sp>
        <p:nvSpPr>
          <p:cNvPr id="4" name="Date Placeholder 3">
            <a:extLst>
              <a:ext uri="{FF2B5EF4-FFF2-40B4-BE49-F238E27FC236}">
                <a16:creationId xmlns:a16="http://schemas.microsoft.com/office/drawing/2014/main" id="{52611226-8153-E18E-A771-F8B93F0F8C2A}"/>
              </a:ext>
            </a:extLst>
          </p:cNvPr>
          <p:cNvSpPr>
            <a:spLocks noGrp="1"/>
          </p:cNvSpPr>
          <p:nvPr>
            <p:ph type="dt" sz="half" idx="10"/>
          </p:nvPr>
        </p:nvSpPr>
        <p:spPr/>
        <p:txBody>
          <a:bodyPr/>
          <a:lstStyle/>
          <a:p>
            <a:fld id="{C938608F-E09C-4917-8395-A8C4B6C1D766}" type="datetime1">
              <a:rPr lang="en-US" smtClean="0"/>
              <a:t>11/14/2025</a:t>
            </a:fld>
            <a:endParaRPr lang="en-US"/>
          </a:p>
        </p:txBody>
      </p:sp>
      <p:sp>
        <p:nvSpPr>
          <p:cNvPr id="5" name="Footer Placeholder 4">
            <a:extLst>
              <a:ext uri="{FF2B5EF4-FFF2-40B4-BE49-F238E27FC236}">
                <a16:creationId xmlns:a16="http://schemas.microsoft.com/office/drawing/2014/main" id="{DDDFFD96-A81B-A0C4-5470-3D6947B9ABA2}"/>
              </a:ext>
            </a:extLst>
          </p:cNvPr>
          <p:cNvSpPr>
            <a:spLocks noGrp="1"/>
          </p:cNvSpPr>
          <p:nvPr>
            <p:ph type="ftr" sz="quarter" idx="11"/>
          </p:nvPr>
        </p:nvSpPr>
        <p:spPr>
          <a:xfrm>
            <a:off x="1818968" y="6342933"/>
            <a:ext cx="5938684"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03D08EFC-58CF-8121-AB09-815731CD2826}"/>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E2573-08F6-7955-4D63-1A56EE3651BE}"/>
            </a:ext>
          </a:extLst>
        </p:cNvPr>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8DB59F06-3EAB-07C5-B132-EEF1F55E99D9}"/>
              </a:ext>
            </a:extLst>
          </p:cNvPr>
          <p:cNvPicPr>
            <a:picLocks noGrp="1" noChangeAspect="1"/>
          </p:cNvPicPr>
          <p:nvPr>
            <p:ph idx="1"/>
          </p:nvPr>
        </p:nvPicPr>
        <p:blipFill>
          <a:blip r:embed="rId2"/>
          <a:stretch>
            <a:fillRect/>
          </a:stretch>
        </p:blipFill>
        <p:spPr>
          <a:xfrm>
            <a:off x="2309018" y="764458"/>
            <a:ext cx="4525963" cy="4525963"/>
          </a:xfrm>
        </p:spPr>
      </p:pic>
      <p:sp>
        <p:nvSpPr>
          <p:cNvPr id="4" name="Date Placeholder 3">
            <a:extLst>
              <a:ext uri="{FF2B5EF4-FFF2-40B4-BE49-F238E27FC236}">
                <a16:creationId xmlns:a16="http://schemas.microsoft.com/office/drawing/2014/main" id="{5808CCD5-EA57-7461-A82F-3B8ED386FD85}"/>
              </a:ext>
            </a:extLst>
          </p:cNvPr>
          <p:cNvSpPr>
            <a:spLocks noGrp="1"/>
          </p:cNvSpPr>
          <p:nvPr>
            <p:ph type="dt" sz="half" idx="10"/>
          </p:nvPr>
        </p:nvSpPr>
        <p:spPr/>
        <p:txBody>
          <a:bodyPr/>
          <a:lstStyle/>
          <a:p>
            <a:fld id="{6B7AC3D1-CE67-4250-98AF-5E85CF7631D9}" type="datetime1">
              <a:rPr lang="en-US" smtClean="0"/>
              <a:t>11/14/2025</a:t>
            </a:fld>
            <a:endParaRPr lang="en-US"/>
          </a:p>
        </p:txBody>
      </p:sp>
      <p:sp>
        <p:nvSpPr>
          <p:cNvPr id="5" name="Footer Placeholder 4">
            <a:extLst>
              <a:ext uri="{FF2B5EF4-FFF2-40B4-BE49-F238E27FC236}">
                <a16:creationId xmlns:a16="http://schemas.microsoft.com/office/drawing/2014/main" id="{71570183-3CC1-0F7A-3A01-BF0AB055EA5B}"/>
              </a:ext>
            </a:extLst>
          </p:cNvPr>
          <p:cNvSpPr>
            <a:spLocks noGrp="1"/>
          </p:cNvSpPr>
          <p:nvPr>
            <p:ph type="ftr" sz="quarter" idx="11"/>
          </p:nvPr>
        </p:nvSpPr>
        <p:spPr>
          <a:xfrm>
            <a:off x="1769808" y="6370894"/>
            <a:ext cx="5850192"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7F136EF1-2556-3A98-3493-595F603F66E1}"/>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9" name="TextBox 8">
            <a:extLst>
              <a:ext uri="{FF2B5EF4-FFF2-40B4-BE49-F238E27FC236}">
                <a16:creationId xmlns:a16="http://schemas.microsoft.com/office/drawing/2014/main" id="{6ADCA71B-DF23-C6F7-5B3A-53393F389726}"/>
              </a:ext>
            </a:extLst>
          </p:cNvPr>
          <p:cNvSpPr txBox="1"/>
          <p:nvPr/>
        </p:nvSpPr>
        <p:spPr>
          <a:xfrm>
            <a:off x="2890684" y="5476568"/>
            <a:ext cx="3313471" cy="292388"/>
          </a:xfrm>
          <a:prstGeom prst="rect">
            <a:avLst/>
          </a:prstGeom>
          <a:noFill/>
        </p:spPr>
        <p:txBody>
          <a:bodyPr wrap="square" rtlCol="0">
            <a:spAutoFit/>
          </a:bodyPr>
          <a:lstStyle/>
          <a:p>
            <a:pPr algn="ctr"/>
            <a:r>
              <a:rPr lang="en-IN" sz="1300" dirty="0">
                <a:latin typeface="Times New Roman" panose="02020603050405020304" pitchFamily="18" charset="0"/>
                <a:cs typeface="Times New Roman" panose="02020603050405020304" pitchFamily="18" charset="0"/>
              </a:rPr>
              <a:t>Figure 1: Components within IAP</a:t>
            </a:r>
          </a:p>
        </p:txBody>
      </p:sp>
    </p:spTree>
    <p:extLst>
      <p:ext uri="{BB962C8B-B14F-4D97-AF65-F5344CB8AC3E}">
        <p14:creationId xmlns:p14="http://schemas.microsoft.com/office/powerpoint/2010/main" val="2868530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Objective of the Work</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lvl="0" algn="just"/>
            <a:r>
              <a:rPr lang="en-IN" sz="2400" dirty="0">
                <a:latin typeface="Times New Roman" panose="02020603050405020304" pitchFamily="18" charset="0"/>
                <a:cs typeface="Times New Roman" panose="02020603050405020304" pitchFamily="18" charset="0"/>
              </a:rPr>
              <a:t>To analyse the reliability-oriented design considerations for the integration of System-on-Chip (SoC) architectures in satellite data handling systems, ensuring that component selection and configuration meet mission reliability requirements.</a:t>
            </a:r>
          </a:p>
          <a:p>
            <a:pPr lvl="0" algn="just"/>
            <a:r>
              <a:rPr lang="en-IN" sz="2400" dirty="0">
                <a:latin typeface="Times New Roman" panose="02020603050405020304" pitchFamily="18" charset="0"/>
                <a:cs typeface="Times New Roman" panose="02020603050405020304" pitchFamily="18" charset="0"/>
              </a:rPr>
              <a:t>To implement systematic derating analysis for selected Field Programmable Gate Arrays (FPGAs) and Integrated Circuits (ICs) by evaluating output current utilization.</a:t>
            </a:r>
          </a:p>
          <a:p>
            <a:pPr lvl="0" algn="just"/>
            <a:r>
              <a:rPr lang="en-IN" sz="2400" dirty="0">
                <a:latin typeface="Times New Roman" panose="02020603050405020304" pitchFamily="18" charset="0"/>
                <a:cs typeface="Times New Roman" panose="02020603050405020304" pitchFamily="18" charset="0"/>
              </a:rPr>
              <a:t>To improve the overall SoC integration framework by developing layout and system-level design guidelines for digital and RF subsystems. </a:t>
            </a:r>
          </a:p>
        </p:txBody>
      </p:sp>
      <p:sp>
        <p:nvSpPr>
          <p:cNvPr id="4" name="Date Placeholder 3">
            <a:extLst>
              <a:ext uri="{FF2B5EF4-FFF2-40B4-BE49-F238E27FC236}">
                <a16:creationId xmlns:a16="http://schemas.microsoft.com/office/drawing/2014/main" id="{8380D041-CF3B-5099-E052-CB37ED473121}"/>
              </a:ext>
            </a:extLst>
          </p:cNvPr>
          <p:cNvSpPr>
            <a:spLocks noGrp="1"/>
          </p:cNvSpPr>
          <p:nvPr>
            <p:ph type="dt" sz="half" idx="10"/>
          </p:nvPr>
        </p:nvSpPr>
        <p:spPr/>
        <p:txBody>
          <a:bodyPr/>
          <a:lstStyle/>
          <a:p>
            <a:fld id="{DD78075F-973A-470C-A8C0-92C6A10378AD}" type="datetime1">
              <a:rPr lang="en-US" smtClean="0"/>
              <a:t>11/14/2025</a:t>
            </a:fld>
            <a:endParaRPr lang="en-US"/>
          </a:p>
        </p:txBody>
      </p:sp>
      <p:sp>
        <p:nvSpPr>
          <p:cNvPr id="5" name="Footer Placeholder 4">
            <a:extLst>
              <a:ext uri="{FF2B5EF4-FFF2-40B4-BE49-F238E27FC236}">
                <a16:creationId xmlns:a16="http://schemas.microsoft.com/office/drawing/2014/main" id="{4D9C0A8D-B129-F81D-6E52-7AF5A9D2B9B0}"/>
              </a:ext>
            </a:extLst>
          </p:cNvPr>
          <p:cNvSpPr>
            <a:spLocks noGrp="1"/>
          </p:cNvSpPr>
          <p:nvPr>
            <p:ph type="ftr" sz="quarter" idx="11"/>
          </p:nvPr>
        </p:nvSpPr>
        <p:spPr>
          <a:xfrm>
            <a:off x="1740309" y="6356350"/>
            <a:ext cx="5997677"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9825C144-34EA-0426-515E-B15749AF2FA7}"/>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latin typeface="Times New Roman" panose="02020603050405020304" pitchFamily="18" charset="0"/>
                <a:cs typeface="Times New Roman" panose="02020603050405020304" pitchFamily="18" charset="0"/>
              </a:rPr>
              <a:t>System Overview</a:t>
            </a:r>
          </a:p>
        </p:txBody>
      </p:sp>
      <p:sp>
        <p:nvSpPr>
          <p:cNvPr id="3" name="Content Placeholder 2"/>
          <p:cNvSpPr>
            <a:spLocks noGrp="1"/>
          </p:cNvSpPr>
          <p:nvPr>
            <p:ph idx="1"/>
          </p:nvPr>
        </p:nvSpPr>
        <p:spPr>
          <a:xfrm>
            <a:off x="457200" y="1590368"/>
            <a:ext cx="8229600" cy="4643284"/>
          </a:xfrm>
        </p:spPr>
        <p:txBody>
          <a:bodyPr>
            <a:normAutofit lnSpcReduction="10000"/>
          </a:bodyPr>
          <a:lstStyle/>
          <a:p>
            <a:pPr algn="just"/>
            <a:r>
              <a:rPr lang="en-IN" sz="2400" dirty="0">
                <a:latin typeface="Times New Roman" panose="02020603050405020304" pitchFamily="18" charset="0"/>
                <a:cs typeface="Times New Roman" panose="02020603050405020304" pitchFamily="18" charset="0"/>
              </a:rPr>
              <a:t>A typical satellite payload system comprises three primary functional elements: the payload, the data handling subsystem, and the Radio Frequency (RF) subsystem as shown in figure 1.</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a:t>
            </a:r>
            <a:r>
              <a:rPr lang="en-IN" sz="2400" b="1" i="1" dirty="0">
                <a:latin typeface="Times New Roman" panose="02020603050405020304" pitchFamily="18" charset="0"/>
                <a:cs typeface="Times New Roman" panose="02020603050405020304" pitchFamily="18" charset="0"/>
              </a:rPr>
              <a:t> Payload </a:t>
            </a:r>
            <a:r>
              <a:rPr lang="en-IN" sz="2400" dirty="0">
                <a:latin typeface="Times New Roman" panose="02020603050405020304" pitchFamily="18" charset="0"/>
                <a:cs typeface="Times New Roman" panose="02020603050405020304" pitchFamily="18" charset="0"/>
              </a:rPr>
              <a:t>: responsible for data acquisition, capturing signals in either analog or digital form depending on the mission objectives and transmit in digital form.</a:t>
            </a:r>
          </a:p>
          <a:p>
            <a:pPr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     </a:t>
            </a:r>
            <a:r>
              <a:rPr lang="en-IN" sz="2400" b="1" i="1" dirty="0">
                <a:latin typeface="Times New Roman" panose="02020603050405020304" pitchFamily="18" charset="0"/>
                <a:cs typeface="Times New Roman" panose="02020603050405020304" pitchFamily="18" charset="0"/>
              </a:rPr>
              <a:t>Data Handling System </a:t>
            </a:r>
            <a:r>
              <a:rPr lang="en-IN" sz="2400" dirty="0">
                <a:latin typeface="Times New Roman" panose="02020603050405020304" pitchFamily="18" charset="0"/>
                <a:cs typeface="Times New Roman" panose="02020603050405020304" pitchFamily="18" charset="0"/>
              </a:rPr>
              <a:t>: processes the acquired payload data through a sequence of operations such as data formatting, compression, storage, and packetization. The processed data is then transferred to the RF system.</a:t>
            </a:r>
          </a:p>
          <a:p>
            <a:pPr algn="just">
              <a:buFont typeface="Wingdings" panose="05000000000000000000" pitchFamily="2" charset="2"/>
              <a:buChar char="§"/>
            </a:pPr>
            <a:r>
              <a:rPr lang="en-IN" sz="2400" i="1" dirty="0">
                <a:latin typeface="Times New Roman" panose="02020603050405020304" pitchFamily="18" charset="0"/>
                <a:cs typeface="Times New Roman" panose="02020603050405020304" pitchFamily="18" charset="0"/>
              </a:rPr>
              <a:t>     </a:t>
            </a:r>
            <a:r>
              <a:rPr lang="en-IN" sz="2400" b="1" i="1" dirty="0">
                <a:latin typeface="Times New Roman" panose="02020603050405020304" pitchFamily="18" charset="0"/>
                <a:cs typeface="Times New Roman" panose="02020603050405020304" pitchFamily="18" charset="0"/>
              </a:rPr>
              <a:t>Radio Frequency </a:t>
            </a:r>
            <a:r>
              <a:rPr lang="en-IN" sz="2400" dirty="0">
                <a:latin typeface="Times New Roman" panose="02020603050405020304" pitchFamily="18" charset="0"/>
                <a:cs typeface="Times New Roman" panose="02020603050405020304" pitchFamily="18" charset="0"/>
              </a:rPr>
              <a:t>: which performs modulation, amplification, and downlink transmission to the ground station for further analysis.</a:t>
            </a:r>
          </a:p>
        </p:txBody>
      </p:sp>
      <p:sp>
        <p:nvSpPr>
          <p:cNvPr id="4" name="Date Placeholder 3">
            <a:extLst>
              <a:ext uri="{FF2B5EF4-FFF2-40B4-BE49-F238E27FC236}">
                <a16:creationId xmlns:a16="http://schemas.microsoft.com/office/drawing/2014/main" id="{A9869F01-BE3E-CF6A-AA1B-AD9C7C5B5049}"/>
              </a:ext>
            </a:extLst>
          </p:cNvPr>
          <p:cNvSpPr>
            <a:spLocks noGrp="1"/>
          </p:cNvSpPr>
          <p:nvPr>
            <p:ph type="dt" sz="half" idx="10"/>
          </p:nvPr>
        </p:nvSpPr>
        <p:spPr/>
        <p:txBody>
          <a:bodyPr/>
          <a:lstStyle/>
          <a:p>
            <a:fld id="{2B50D259-5AA9-4FCA-A334-96DF19B805EE}" type="datetime1">
              <a:rPr lang="en-US" smtClean="0"/>
              <a:t>11/14/2025</a:t>
            </a:fld>
            <a:endParaRPr lang="en-US"/>
          </a:p>
        </p:txBody>
      </p:sp>
      <p:sp>
        <p:nvSpPr>
          <p:cNvPr id="5" name="Footer Placeholder 4">
            <a:extLst>
              <a:ext uri="{FF2B5EF4-FFF2-40B4-BE49-F238E27FC236}">
                <a16:creationId xmlns:a16="http://schemas.microsoft.com/office/drawing/2014/main" id="{572FE036-81D3-3336-9B66-3D669A718258}"/>
              </a:ext>
            </a:extLst>
          </p:cNvPr>
          <p:cNvSpPr>
            <a:spLocks noGrp="1"/>
          </p:cNvSpPr>
          <p:nvPr>
            <p:ph type="ftr" sz="quarter" idx="11"/>
          </p:nvPr>
        </p:nvSpPr>
        <p:spPr>
          <a:xfrm>
            <a:off x="1769807" y="6356350"/>
            <a:ext cx="5987845"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BA69DAA2-0408-E73E-BE22-0DA338AD2EE9}"/>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9BDBE8-78C4-591F-A503-0FF81F6243AF}"/>
              </a:ext>
            </a:extLst>
          </p:cNvPr>
          <p:cNvPicPr>
            <a:picLocks noGrp="1" noChangeAspect="1"/>
          </p:cNvPicPr>
          <p:nvPr>
            <p:ph idx="1"/>
          </p:nvPr>
        </p:nvPicPr>
        <p:blipFill>
          <a:blip r:embed="rId2"/>
          <a:stretch>
            <a:fillRect/>
          </a:stretch>
        </p:blipFill>
        <p:spPr>
          <a:xfrm>
            <a:off x="1256187" y="853845"/>
            <a:ext cx="6904588" cy="4525963"/>
          </a:xfrm>
        </p:spPr>
      </p:pic>
      <p:sp>
        <p:nvSpPr>
          <p:cNvPr id="10" name="Date Placeholder 9">
            <a:extLst>
              <a:ext uri="{FF2B5EF4-FFF2-40B4-BE49-F238E27FC236}">
                <a16:creationId xmlns:a16="http://schemas.microsoft.com/office/drawing/2014/main" id="{FC0109C3-44E1-7707-D6FB-0920532EF3B6}"/>
              </a:ext>
            </a:extLst>
          </p:cNvPr>
          <p:cNvSpPr>
            <a:spLocks noGrp="1"/>
          </p:cNvSpPr>
          <p:nvPr>
            <p:ph type="dt" sz="half" idx="10"/>
          </p:nvPr>
        </p:nvSpPr>
        <p:spPr/>
        <p:txBody>
          <a:bodyPr/>
          <a:lstStyle/>
          <a:p>
            <a:fld id="{7737B009-4238-4209-A64A-A30A32F194CF}" type="datetime1">
              <a:rPr lang="en-US" smtClean="0"/>
              <a:t>11/14/2025</a:t>
            </a:fld>
            <a:endParaRPr lang="en-US"/>
          </a:p>
        </p:txBody>
      </p:sp>
      <p:sp>
        <p:nvSpPr>
          <p:cNvPr id="11" name="Footer Placeholder 10">
            <a:extLst>
              <a:ext uri="{FF2B5EF4-FFF2-40B4-BE49-F238E27FC236}">
                <a16:creationId xmlns:a16="http://schemas.microsoft.com/office/drawing/2014/main" id="{155073E7-F0E1-DED8-4C1D-A46105BBEAD6}"/>
              </a:ext>
            </a:extLst>
          </p:cNvPr>
          <p:cNvSpPr>
            <a:spLocks noGrp="1"/>
          </p:cNvSpPr>
          <p:nvPr>
            <p:ph type="ftr" sz="quarter" idx="11"/>
          </p:nvPr>
        </p:nvSpPr>
        <p:spPr>
          <a:xfrm>
            <a:off x="1592826" y="6356350"/>
            <a:ext cx="6371303" cy="365125"/>
          </a:xfrm>
        </p:spPr>
        <p:txBody>
          <a:bodyPr/>
          <a:lstStyle/>
          <a:p>
            <a:r>
              <a:rPr lang="en-US" dirty="0"/>
              <a:t>STUDY ON DESIGN FOR RELIABILITY CONSIDERATION OF SoC FOR SPACE APPLICATION</a:t>
            </a:r>
          </a:p>
        </p:txBody>
      </p:sp>
      <p:sp>
        <p:nvSpPr>
          <p:cNvPr id="12" name="Slide Number Placeholder 11">
            <a:extLst>
              <a:ext uri="{FF2B5EF4-FFF2-40B4-BE49-F238E27FC236}">
                <a16:creationId xmlns:a16="http://schemas.microsoft.com/office/drawing/2014/main" id="{54C62923-464D-58B2-A2C0-1C6DAB4E8E94}"/>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7" name="Rectangle 6">
            <a:extLst>
              <a:ext uri="{FF2B5EF4-FFF2-40B4-BE49-F238E27FC236}">
                <a16:creationId xmlns:a16="http://schemas.microsoft.com/office/drawing/2014/main" id="{1DDA447D-2DE3-C0DD-3FD1-E115D4281B11}"/>
              </a:ext>
            </a:extLst>
          </p:cNvPr>
          <p:cNvSpPr/>
          <p:nvPr/>
        </p:nvSpPr>
        <p:spPr>
          <a:xfrm>
            <a:off x="1010380" y="2057955"/>
            <a:ext cx="1651819" cy="11405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3C74A000-608D-638E-F9D0-F9F1EDF70660}"/>
              </a:ext>
            </a:extLst>
          </p:cNvPr>
          <p:cNvSpPr txBox="1"/>
          <p:nvPr/>
        </p:nvSpPr>
        <p:spPr>
          <a:xfrm>
            <a:off x="983225" y="2316608"/>
            <a:ext cx="1651819"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Payloads</a:t>
            </a:r>
          </a:p>
        </p:txBody>
      </p:sp>
      <p:sp>
        <p:nvSpPr>
          <p:cNvPr id="9" name="TextBox 8">
            <a:extLst>
              <a:ext uri="{FF2B5EF4-FFF2-40B4-BE49-F238E27FC236}">
                <a16:creationId xmlns:a16="http://schemas.microsoft.com/office/drawing/2014/main" id="{27EBA2C6-5B0D-4C46-7139-8239509A8EFC}"/>
              </a:ext>
            </a:extLst>
          </p:cNvPr>
          <p:cNvSpPr txBox="1"/>
          <p:nvPr/>
        </p:nvSpPr>
        <p:spPr>
          <a:xfrm>
            <a:off x="2635043" y="5412948"/>
            <a:ext cx="3706761" cy="292388"/>
          </a:xfrm>
          <a:prstGeom prst="rect">
            <a:avLst/>
          </a:prstGeom>
          <a:noFill/>
        </p:spPr>
        <p:txBody>
          <a:bodyPr wrap="square" rtlCol="0">
            <a:spAutoFit/>
          </a:bodyPr>
          <a:lstStyle/>
          <a:p>
            <a:pPr algn="ctr"/>
            <a:r>
              <a:rPr lang="en-IN" sz="1300" dirty="0">
                <a:latin typeface="Times New Roman" panose="02020603050405020304" pitchFamily="18" charset="0"/>
                <a:cs typeface="Times New Roman" panose="02020603050405020304" pitchFamily="18" charset="0"/>
              </a:rPr>
              <a:t>Figure 1: Data Handling flow</a:t>
            </a:r>
          </a:p>
        </p:txBody>
      </p:sp>
      <p:sp>
        <p:nvSpPr>
          <p:cNvPr id="14" name="Rectangle 13">
            <a:extLst>
              <a:ext uri="{FF2B5EF4-FFF2-40B4-BE49-F238E27FC236}">
                <a16:creationId xmlns:a16="http://schemas.microsoft.com/office/drawing/2014/main" id="{FD12BEF8-247D-BEAE-4365-0FCCD21FD411}"/>
              </a:ext>
            </a:extLst>
          </p:cNvPr>
          <p:cNvSpPr/>
          <p:nvPr/>
        </p:nvSpPr>
        <p:spPr>
          <a:xfrm>
            <a:off x="2153265" y="4021394"/>
            <a:ext cx="4257367" cy="11736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8C6851C4-B8F6-FE05-E76E-591365C80746}"/>
              </a:ext>
            </a:extLst>
          </p:cNvPr>
          <p:cNvSpPr txBox="1"/>
          <p:nvPr/>
        </p:nvSpPr>
        <p:spPr>
          <a:xfrm>
            <a:off x="2153265" y="4021394"/>
            <a:ext cx="4257367" cy="830997"/>
          </a:xfrm>
          <a:prstGeom prst="rect">
            <a:avLst/>
          </a:prstGeom>
          <a:noFill/>
        </p:spPr>
        <p:txBody>
          <a:bodyPr wrap="square" rtlCol="0">
            <a:spAutoFit/>
          </a:bodyPr>
          <a:lstStyle/>
          <a:p>
            <a:pPr algn="ctr"/>
            <a:endParaRPr lang="en-IN" sz="2400" dirty="0">
              <a:latin typeface="Times New Roman" panose="02020603050405020304" pitchFamily="18" charset="0"/>
              <a:cs typeface="Times New Roman" panose="02020603050405020304" pitchFamily="18" charset="0"/>
            </a:endParaRPr>
          </a:p>
          <a:p>
            <a:pPr algn="ctr"/>
            <a:r>
              <a:rPr lang="en-IN" sz="2400" dirty="0">
                <a:latin typeface="Times New Roman" panose="02020603050405020304" pitchFamily="18" charset="0"/>
                <a:cs typeface="Times New Roman" panose="02020603050405020304" pitchFamily="18" charset="0"/>
              </a:rPr>
              <a:t> Data Handling and RF System</a:t>
            </a:r>
          </a:p>
        </p:txBody>
      </p:sp>
    </p:spTree>
    <p:extLst>
      <p:ext uri="{BB962C8B-B14F-4D97-AF65-F5344CB8AC3E}">
        <p14:creationId xmlns:p14="http://schemas.microsoft.com/office/powerpoint/2010/main" val="637087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System On Chip (SoC)</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28650" y="1690689"/>
            <a:ext cx="7886700" cy="4351338"/>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A System on Chip (SoC) integrates all major electronic components like processor, memory, input/output interfaces, and communication modules onto a single silicon substrate as shown in figure 2.</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It combines digital, analog, and RF functions, providing compact, power-efficient, and high-performance designs essential for spacecraft avionics.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The integration allows faster data transfer between systems and better synchronization of onboard processes.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Their low power consumption supports extended mission lifetimes in energy-constrained environments. </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SoCs represent the future of space electronics, combining intelligence, efficiency, and miniaturization in a single platform.</a:t>
            </a:r>
            <a:endParaRPr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2E18D3B-3160-7BF1-6C4E-5BB803EBBE8B}"/>
              </a:ext>
            </a:extLst>
          </p:cNvPr>
          <p:cNvSpPr>
            <a:spLocks noGrp="1"/>
          </p:cNvSpPr>
          <p:nvPr>
            <p:ph type="dt" sz="half" idx="10"/>
          </p:nvPr>
        </p:nvSpPr>
        <p:spPr/>
        <p:txBody>
          <a:bodyPr/>
          <a:lstStyle/>
          <a:p>
            <a:fld id="{6B7AC3D1-CE67-4250-98AF-5E85CF7631D9}" type="datetime1">
              <a:rPr lang="en-US" smtClean="0"/>
              <a:t>11/14/2025</a:t>
            </a:fld>
            <a:endParaRPr lang="en-US"/>
          </a:p>
        </p:txBody>
      </p:sp>
      <p:sp>
        <p:nvSpPr>
          <p:cNvPr id="5" name="Footer Placeholder 4">
            <a:extLst>
              <a:ext uri="{FF2B5EF4-FFF2-40B4-BE49-F238E27FC236}">
                <a16:creationId xmlns:a16="http://schemas.microsoft.com/office/drawing/2014/main" id="{8F8319E2-0019-7A3F-1666-08053D06AC95}"/>
              </a:ext>
            </a:extLst>
          </p:cNvPr>
          <p:cNvSpPr>
            <a:spLocks noGrp="1"/>
          </p:cNvSpPr>
          <p:nvPr>
            <p:ph type="ftr" sz="quarter" idx="11"/>
          </p:nvPr>
        </p:nvSpPr>
        <p:spPr>
          <a:xfrm>
            <a:off x="1769808" y="6370894"/>
            <a:ext cx="5850192"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DDB21D21-5E88-1576-7185-CFC14E6737D9}"/>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D650B-0FEE-17EE-D104-B93194E166D6}"/>
            </a:ext>
          </a:extLst>
        </p:cNvPr>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0366842-8C82-DFFC-F107-15012FD2923F}"/>
              </a:ext>
            </a:extLst>
          </p:cNvPr>
          <p:cNvPicPr>
            <a:picLocks noGrp="1" noChangeAspect="1"/>
          </p:cNvPicPr>
          <p:nvPr>
            <p:ph idx="1"/>
          </p:nvPr>
        </p:nvPicPr>
        <p:blipFill>
          <a:blip r:embed="rId2"/>
          <a:stretch>
            <a:fillRect/>
          </a:stretch>
        </p:blipFill>
        <p:spPr>
          <a:xfrm>
            <a:off x="2309018" y="784123"/>
            <a:ext cx="4525963" cy="4525963"/>
          </a:xfrm>
        </p:spPr>
      </p:pic>
      <p:sp>
        <p:nvSpPr>
          <p:cNvPr id="4" name="Date Placeholder 3">
            <a:extLst>
              <a:ext uri="{FF2B5EF4-FFF2-40B4-BE49-F238E27FC236}">
                <a16:creationId xmlns:a16="http://schemas.microsoft.com/office/drawing/2014/main" id="{8D0AA409-688D-B5AD-C5FF-5892F7460688}"/>
              </a:ext>
            </a:extLst>
          </p:cNvPr>
          <p:cNvSpPr>
            <a:spLocks noGrp="1"/>
          </p:cNvSpPr>
          <p:nvPr>
            <p:ph type="dt" sz="half" idx="10"/>
          </p:nvPr>
        </p:nvSpPr>
        <p:spPr/>
        <p:txBody>
          <a:bodyPr/>
          <a:lstStyle/>
          <a:p>
            <a:fld id="{6B7AC3D1-CE67-4250-98AF-5E85CF7631D9}" type="datetime1">
              <a:rPr lang="en-US" smtClean="0"/>
              <a:t>11/14/2025</a:t>
            </a:fld>
            <a:endParaRPr lang="en-US"/>
          </a:p>
        </p:txBody>
      </p:sp>
      <p:sp>
        <p:nvSpPr>
          <p:cNvPr id="5" name="Footer Placeholder 4">
            <a:extLst>
              <a:ext uri="{FF2B5EF4-FFF2-40B4-BE49-F238E27FC236}">
                <a16:creationId xmlns:a16="http://schemas.microsoft.com/office/drawing/2014/main" id="{29169028-46A2-CD78-73B8-493ADA180E18}"/>
              </a:ext>
            </a:extLst>
          </p:cNvPr>
          <p:cNvSpPr>
            <a:spLocks noGrp="1"/>
          </p:cNvSpPr>
          <p:nvPr>
            <p:ph type="ftr" sz="quarter" idx="11"/>
          </p:nvPr>
        </p:nvSpPr>
        <p:spPr>
          <a:xfrm>
            <a:off x="1769808" y="6370894"/>
            <a:ext cx="5850192"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001AFE6B-90EB-3E0F-5EED-097DD5F6558F}"/>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14" name="TextBox 13">
            <a:extLst>
              <a:ext uri="{FF2B5EF4-FFF2-40B4-BE49-F238E27FC236}">
                <a16:creationId xmlns:a16="http://schemas.microsoft.com/office/drawing/2014/main" id="{8F03092C-96BA-F477-C52E-BBA45076D718}"/>
              </a:ext>
            </a:extLst>
          </p:cNvPr>
          <p:cNvSpPr txBox="1"/>
          <p:nvPr/>
        </p:nvSpPr>
        <p:spPr>
          <a:xfrm>
            <a:off x="3215148" y="5211097"/>
            <a:ext cx="2556387" cy="292388"/>
          </a:xfrm>
          <a:prstGeom prst="rect">
            <a:avLst/>
          </a:prstGeom>
          <a:noFill/>
        </p:spPr>
        <p:txBody>
          <a:bodyPr wrap="square" rtlCol="0">
            <a:spAutoFit/>
          </a:bodyPr>
          <a:lstStyle/>
          <a:p>
            <a:pPr algn="ctr"/>
            <a:r>
              <a:rPr lang="en-IN" sz="1300" dirty="0">
                <a:latin typeface="Times New Roman" panose="02020603050405020304" pitchFamily="18" charset="0"/>
                <a:cs typeface="Times New Roman" panose="02020603050405020304" pitchFamily="18" charset="0"/>
              </a:rPr>
              <a:t>Figure 2: System on Chip</a:t>
            </a:r>
          </a:p>
        </p:txBody>
      </p:sp>
    </p:spTree>
    <p:extLst>
      <p:ext uri="{BB962C8B-B14F-4D97-AF65-F5344CB8AC3E}">
        <p14:creationId xmlns:p14="http://schemas.microsoft.com/office/powerpoint/2010/main" val="256533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Advantages</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99037" y="1825625"/>
            <a:ext cx="7886700" cy="4351338"/>
          </a:xfrm>
        </p:spPr>
        <p:txBody>
          <a:bodyPr>
            <a:normAutofit/>
          </a:bodyPr>
          <a:lstStyle/>
          <a:p>
            <a:r>
              <a:rPr lang="en-US" dirty="0">
                <a:latin typeface="Times New Roman" panose="02020603050405020304" pitchFamily="18" charset="0"/>
                <a:cs typeface="Times New Roman" panose="02020603050405020304" pitchFamily="18" charset="0"/>
              </a:rPr>
              <a:t>Improves signal integrity and system reliability.</a:t>
            </a:r>
          </a:p>
          <a:p>
            <a:r>
              <a:rPr lang="en-US" dirty="0">
                <a:latin typeface="Times New Roman" panose="02020603050405020304" pitchFamily="18" charset="0"/>
                <a:cs typeface="Times New Roman" panose="02020603050405020304" pitchFamily="18" charset="0"/>
              </a:rPr>
              <a:t>Reduces interconnection losses and enhance processing speed.</a:t>
            </a:r>
          </a:p>
          <a:p>
            <a:r>
              <a:rPr lang="en-US" dirty="0">
                <a:latin typeface="Times New Roman" panose="02020603050405020304" pitchFamily="18" charset="0"/>
                <a:cs typeface="Times New Roman" panose="02020603050405020304" pitchFamily="18" charset="0"/>
              </a:rPr>
              <a:t> Simple design with fewer connections.</a:t>
            </a:r>
          </a:p>
          <a:p>
            <a:r>
              <a:rPr lang="en-US" dirty="0">
                <a:latin typeface="Times New Roman" panose="02020603050405020304" pitchFamily="18" charset="0"/>
                <a:cs typeface="Times New Roman" panose="02020603050405020304" pitchFamily="18" charset="0"/>
              </a:rPr>
              <a:t> Cost-effective and scalable for multiple mission types.</a:t>
            </a:r>
          </a:p>
          <a:p>
            <a:r>
              <a:rPr lang="en-US" dirty="0">
                <a:latin typeface="Times New Roman" panose="02020603050405020304" pitchFamily="18" charset="0"/>
                <a:cs typeface="Times New Roman" panose="02020603050405020304" pitchFamily="18" charset="0"/>
              </a:rPr>
              <a:t> Improved data transfer and integration between digital and RF modules.</a:t>
            </a:r>
          </a:p>
          <a:p>
            <a:r>
              <a:rPr lang="en-US" dirty="0">
                <a:latin typeface="Times New Roman" panose="02020603050405020304" pitchFamily="18" charset="0"/>
                <a:cs typeface="Times New Roman" panose="02020603050405020304" pitchFamily="18" charset="0"/>
              </a:rPr>
              <a:t> Compact size, reduced weight , provide power efficient and high-performance design.</a:t>
            </a:r>
          </a:p>
        </p:txBody>
      </p:sp>
      <p:sp>
        <p:nvSpPr>
          <p:cNvPr id="4" name="Date Placeholder 3">
            <a:extLst>
              <a:ext uri="{FF2B5EF4-FFF2-40B4-BE49-F238E27FC236}">
                <a16:creationId xmlns:a16="http://schemas.microsoft.com/office/drawing/2014/main" id="{FFAE0994-1AB1-1B24-8651-F6BD089842BF}"/>
              </a:ext>
            </a:extLst>
          </p:cNvPr>
          <p:cNvSpPr>
            <a:spLocks noGrp="1"/>
          </p:cNvSpPr>
          <p:nvPr>
            <p:ph type="dt" sz="half" idx="10"/>
          </p:nvPr>
        </p:nvSpPr>
        <p:spPr/>
        <p:txBody>
          <a:bodyPr/>
          <a:lstStyle/>
          <a:p>
            <a:fld id="{8D55F827-4BA1-43F0-93FD-1B10663C28EA}" type="datetime1">
              <a:rPr lang="en-US" smtClean="0"/>
              <a:t>11/14/2025</a:t>
            </a:fld>
            <a:endParaRPr lang="en-US"/>
          </a:p>
        </p:txBody>
      </p:sp>
      <p:sp>
        <p:nvSpPr>
          <p:cNvPr id="5" name="Footer Placeholder 4">
            <a:extLst>
              <a:ext uri="{FF2B5EF4-FFF2-40B4-BE49-F238E27FC236}">
                <a16:creationId xmlns:a16="http://schemas.microsoft.com/office/drawing/2014/main" id="{DDEA2BEA-3721-D90F-6D78-A5CE49A3DBFB}"/>
              </a:ext>
            </a:extLst>
          </p:cNvPr>
          <p:cNvSpPr>
            <a:spLocks noGrp="1"/>
          </p:cNvSpPr>
          <p:nvPr>
            <p:ph type="ftr" sz="quarter" idx="11"/>
          </p:nvPr>
        </p:nvSpPr>
        <p:spPr>
          <a:xfrm>
            <a:off x="1759974" y="6356350"/>
            <a:ext cx="6164826"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AAAB9309-88BF-CA6F-25B8-3FA25147F289}"/>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Guidelines for Digital and RF Integration</a:t>
            </a:r>
            <a:endParaRPr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59824" y="2005011"/>
            <a:ext cx="7886700" cy="4351338"/>
          </a:xfrm>
        </p:spPr>
        <p:txBody>
          <a:bodyPr>
            <a:normAutofit/>
          </a:bodyPr>
          <a:lstStyle/>
          <a:p>
            <a:pPr algn="just"/>
            <a:r>
              <a:rPr lang="en-US" dirty="0">
                <a:latin typeface="Times New Roman" panose="02020603050405020304" pitchFamily="18" charset="0"/>
                <a:cs typeface="Times New Roman" panose="02020603050405020304" pitchFamily="18" charset="0"/>
              </a:rPr>
              <a:t>Minimize interference between digital and RF sections through isolation and shielding.</a:t>
            </a:r>
          </a:p>
          <a:p>
            <a:pPr algn="just"/>
            <a:r>
              <a:rPr lang="en-US" dirty="0">
                <a:latin typeface="Times New Roman" panose="02020603050405020304" pitchFamily="18" charset="0"/>
                <a:cs typeface="Times New Roman" panose="02020603050405020304" pitchFamily="18" charset="0"/>
              </a:rPr>
              <a:t>Use proper grounding and decoupling techniques.</a:t>
            </a:r>
          </a:p>
          <a:p>
            <a:pPr algn="just"/>
            <a:r>
              <a:rPr lang="en-US" dirty="0">
                <a:latin typeface="Times New Roman" panose="02020603050405020304" pitchFamily="18" charset="0"/>
                <a:cs typeface="Times New Roman" panose="02020603050405020304" pitchFamily="18" charset="0"/>
              </a:rPr>
              <a:t>Optimize PCB layout to reduce crosstalk and signal reflection.</a:t>
            </a:r>
          </a:p>
          <a:p>
            <a:pPr algn="just"/>
            <a:r>
              <a:rPr lang="en-US" dirty="0">
                <a:latin typeface="Times New Roman" panose="02020603050405020304" pitchFamily="18" charset="0"/>
                <a:cs typeface="Times New Roman" panose="02020603050405020304" pitchFamily="18" charset="0"/>
              </a:rPr>
              <a:t>Ensure stable clock distribution and synchronization.</a:t>
            </a:r>
          </a:p>
          <a:p>
            <a:pPr algn="just"/>
            <a:r>
              <a:rPr lang="en-US" dirty="0">
                <a:latin typeface="Times New Roman" panose="02020603050405020304" pitchFamily="18" charset="0"/>
                <a:cs typeface="Times New Roman" panose="02020603050405020304" pitchFamily="18" charset="0"/>
              </a:rPr>
              <a:t>Maintain thermal management using heat sinks or controlled dissipation paths.</a:t>
            </a:r>
          </a:p>
          <a:p>
            <a:pPr algn="just"/>
            <a:r>
              <a:rPr lang="en-US" dirty="0">
                <a:latin typeface="Times New Roman" panose="02020603050405020304" pitchFamily="18" charset="0"/>
                <a:cs typeface="Times New Roman" panose="02020603050405020304" pitchFamily="18" charset="0"/>
              </a:rPr>
              <a:t>Follow reliability prediction and testing for long-term space operation</a:t>
            </a:r>
          </a:p>
        </p:txBody>
      </p:sp>
      <p:sp>
        <p:nvSpPr>
          <p:cNvPr id="4" name="Date Placeholder 3">
            <a:extLst>
              <a:ext uri="{FF2B5EF4-FFF2-40B4-BE49-F238E27FC236}">
                <a16:creationId xmlns:a16="http://schemas.microsoft.com/office/drawing/2014/main" id="{4D9C4D24-56D1-FC38-179D-6EDFA4E26488}"/>
              </a:ext>
            </a:extLst>
          </p:cNvPr>
          <p:cNvSpPr>
            <a:spLocks noGrp="1"/>
          </p:cNvSpPr>
          <p:nvPr>
            <p:ph type="dt" sz="half" idx="10"/>
          </p:nvPr>
        </p:nvSpPr>
        <p:spPr/>
        <p:txBody>
          <a:bodyPr/>
          <a:lstStyle/>
          <a:p>
            <a:fld id="{B411B3EB-1F56-4F75-8CD5-B07DACD03B6C}" type="datetime1">
              <a:rPr lang="en-US" smtClean="0"/>
              <a:t>11/14/2025</a:t>
            </a:fld>
            <a:endParaRPr lang="en-US"/>
          </a:p>
        </p:txBody>
      </p:sp>
      <p:sp>
        <p:nvSpPr>
          <p:cNvPr id="5" name="Footer Placeholder 4">
            <a:extLst>
              <a:ext uri="{FF2B5EF4-FFF2-40B4-BE49-F238E27FC236}">
                <a16:creationId xmlns:a16="http://schemas.microsoft.com/office/drawing/2014/main" id="{3DA76EB8-2F20-F7D4-C578-2F250A918D95}"/>
              </a:ext>
            </a:extLst>
          </p:cNvPr>
          <p:cNvSpPr>
            <a:spLocks noGrp="1"/>
          </p:cNvSpPr>
          <p:nvPr>
            <p:ph type="ftr" sz="quarter" idx="11"/>
          </p:nvPr>
        </p:nvSpPr>
        <p:spPr>
          <a:xfrm>
            <a:off x="1524000" y="6356350"/>
            <a:ext cx="6636774"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8E6C6BF4-0FC7-7668-C880-347574E8ABAD}"/>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latin typeface="Times New Roman" panose="02020603050405020304" pitchFamily="18" charset="0"/>
                <a:cs typeface="Times New Roman" panose="02020603050405020304" pitchFamily="18" charset="0"/>
              </a:rPr>
              <a:t>Results </a:t>
            </a:r>
          </a:p>
        </p:txBody>
      </p:sp>
      <p:sp>
        <p:nvSpPr>
          <p:cNvPr id="3" name="Date Placeholder 2">
            <a:extLst>
              <a:ext uri="{FF2B5EF4-FFF2-40B4-BE49-F238E27FC236}">
                <a16:creationId xmlns:a16="http://schemas.microsoft.com/office/drawing/2014/main" id="{AE52803E-ADED-2F7C-6ECD-3DF09B37B5E8}"/>
              </a:ext>
            </a:extLst>
          </p:cNvPr>
          <p:cNvSpPr>
            <a:spLocks noGrp="1"/>
          </p:cNvSpPr>
          <p:nvPr>
            <p:ph type="dt" sz="half" idx="10"/>
          </p:nvPr>
        </p:nvSpPr>
        <p:spPr/>
        <p:txBody>
          <a:bodyPr/>
          <a:lstStyle/>
          <a:p>
            <a:fld id="{EEFAEAB3-E069-466C-BD6B-751484A61B70}" type="datetime1">
              <a:rPr lang="en-US" smtClean="0"/>
              <a:t>11/14/2025</a:t>
            </a:fld>
            <a:endParaRPr lang="en-US"/>
          </a:p>
        </p:txBody>
      </p:sp>
      <p:sp>
        <p:nvSpPr>
          <p:cNvPr id="6" name="Footer Placeholder 5">
            <a:extLst>
              <a:ext uri="{FF2B5EF4-FFF2-40B4-BE49-F238E27FC236}">
                <a16:creationId xmlns:a16="http://schemas.microsoft.com/office/drawing/2014/main" id="{E42D4DBA-6FC9-9E09-A652-C1E4D7D887FD}"/>
              </a:ext>
            </a:extLst>
          </p:cNvPr>
          <p:cNvSpPr>
            <a:spLocks noGrp="1"/>
          </p:cNvSpPr>
          <p:nvPr>
            <p:ph type="ftr" sz="quarter" idx="11"/>
          </p:nvPr>
        </p:nvSpPr>
        <p:spPr>
          <a:xfrm>
            <a:off x="1730477" y="6356350"/>
            <a:ext cx="5928852" cy="365125"/>
          </a:xfrm>
        </p:spPr>
        <p:txBody>
          <a:bodyPr/>
          <a:lstStyle/>
          <a:p>
            <a:r>
              <a:rPr lang="en-US" dirty="0"/>
              <a:t>STUDY ON DESIGN FOR RELIABILITY CONSIDERATION OF SoC FOR SPACE APPLICATION</a:t>
            </a:r>
          </a:p>
        </p:txBody>
      </p:sp>
      <p:sp>
        <p:nvSpPr>
          <p:cNvPr id="7" name="Slide Number Placeholder 6">
            <a:extLst>
              <a:ext uri="{FF2B5EF4-FFF2-40B4-BE49-F238E27FC236}">
                <a16:creationId xmlns:a16="http://schemas.microsoft.com/office/drawing/2014/main" id="{E17E593D-9A9F-880B-FA25-E922A83F7F3E}"/>
              </a:ext>
            </a:extLst>
          </p:cNvPr>
          <p:cNvSpPr>
            <a:spLocks noGrp="1"/>
          </p:cNvSpPr>
          <p:nvPr>
            <p:ph type="sldNum" sz="quarter" idx="12"/>
          </p:nvPr>
        </p:nvSpPr>
        <p:spPr/>
        <p:txBody>
          <a:bodyPr/>
          <a:lstStyle/>
          <a:p>
            <a:fld id="{C1FF6DA9-008F-8B48-92A6-B652298478BF}" type="slidenum">
              <a:rPr lang="en-US" smtClean="0"/>
              <a:t>11</a:t>
            </a:fld>
            <a:endParaRPr lang="en-US"/>
          </a:p>
        </p:txBody>
      </p:sp>
      <p:graphicFrame>
        <p:nvGraphicFramePr>
          <p:cNvPr id="4" name="Table 3">
            <a:extLst>
              <a:ext uri="{FF2B5EF4-FFF2-40B4-BE49-F238E27FC236}">
                <a16:creationId xmlns:a16="http://schemas.microsoft.com/office/drawing/2014/main" id="{5A0BA39F-ED9E-32A5-F9BD-AA22D9EF0D27}"/>
              </a:ext>
            </a:extLst>
          </p:cNvPr>
          <p:cNvGraphicFramePr>
            <a:graphicFrameLocks noGrp="1"/>
          </p:cNvGraphicFramePr>
          <p:nvPr>
            <p:extLst>
              <p:ext uri="{D42A27DB-BD31-4B8C-83A1-F6EECF244321}">
                <p14:modId xmlns:p14="http://schemas.microsoft.com/office/powerpoint/2010/main" val="2782305145"/>
              </p:ext>
            </p:extLst>
          </p:nvPr>
        </p:nvGraphicFramePr>
        <p:xfrm>
          <a:off x="1042220" y="3384379"/>
          <a:ext cx="6872748" cy="2772698"/>
        </p:xfrm>
        <a:graphic>
          <a:graphicData uri="http://schemas.openxmlformats.org/drawingml/2006/table">
            <a:tbl>
              <a:tblPr firstRow="1" firstCol="1" bandRow="1">
                <a:tableStyleId>{5C22544A-7EE6-4342-B048-85BDC9FD1C3A}</a:tableStyleId>
              </a:tblPr>
              <a:tblGrid>
                <a:gridCol w="2290408">
                  <a:extLst>
                    <a:ext uri="{9D8B030D-6E8A-4147-A177-3AD203B41FA5}">
                      <a16:colId xmlns:a16="http://schemas.microsoft.com/office/drawing/2014/main" val="2343936921"/>
                    </a:ext>
                  </a:extLst>
                </a:gridCol>
                <a:gridCol w="2291170">
                  <a:extLst>
                    <a:ext uri="{9D8B030D-6E8A-4147-A177-3AD203B41FA5}">
                      <a16:colId xmlns:a16="http://schemas.microsoft.com/office/drawing/2014/main" val="4046575460"/>
                    </a:ext>
                  </a:extLst>
                </a:gridCol>
                <a:gridCol w="2291170">
                  <a:extLst>
                    <a:ext uri="{9D8B030D-6E8A-4147-A177-3AD203B41FA5}">
                      <a16:colId xmlns:a16="http://schemas.microsoft.com/office/drawing/2014/main" val="2838041035"/>
                    </a:ext>
                  </a:extLst>
                </a:gridCol>
              </a:tblGrid>
              <a:tr h="287604">
                <a:tc>
                  <a:txBody>
                    <a:bodyPr/>
                    <a:lstStyle/>
                    <a:p>
                      <a:pPr algn="ctr">
                        <a:lnSpc>
                          <a:spcPct val="150000"/>
                        </a:lnSpc>
                        <a:spcAft>
                          <a:spcPts val="800"/>
                        </a:spcAft>
                        <a:buNone/>
                        <a:tabLst>
                          <a:tab pos="640080" algn="l"/>
                        </a:tabLst>
                      </a:pPr>
                      <a:r>
                        <a:rPr lang="en-IN" sz="1200" kern="100">
                          <a:effectLst/>
                        </a:rPr>
                        <a:t>Components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Parameters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Derated Factor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26110505"/>
                  </a:ext>
                </a:extLst>
              </a:tr>
              <a:tr h="287604">
                <a:tc rowSpan="5">
                  <a:txBody>
                    <a:bodyPr/>
                    <a:lstStyle/>
                    <a:p>
                      <a:pPr algn="ctr">
                        <a:lnSpc>
                          <a:spcPct val="150000"/>
                        </a:lnSpc>
                        <a:spcAft>
                          <a:spcPts val="800"/>
                        </a:spcAft>
                        <a:buNone/>
                        <a:tabLst>
                          <a:tab pos="640080" algn="l"/>
                        </a:tabLst>
                      </a:pPr>
                      <a:r>
                        <a:rPr lang="en-IN" sz="1200" kern="100" dirty="0">
                          <a:effectLst/>
                        </a:rPr>
                        <a:t>FPGA</a:t>
                      </a:r>
                      <a:endParaRPr lang="en-IN" sz="1100" kern="100" dirty="0">
                        <a:effectLst/>
                      </a:endParaRPr>
                    </a:p>
                    <a:p>
                      <a:pPr algn="ctr">
                        <a:lnSpc>
                          <a:spcPct val="150000"/>
                        </a:lnSpc>
                        <a:spcAft>
                          <a:spcPts val="800"/>
                        </a:spcAft>
                        <a:buNone/>
                        <a:tabLst>
                          <a:tab pos="640080" algn="l"/>
                        </a:tabLst>
                      </a:pPr>
                      <a:r>
                        <a:rPr lang="en-IN" sz="1200" kern="100" dirty="0">
                          <a:effectLst/>
                        </a:rPr>
                        <a:t>NAND FLASH</a:t>
                      </a:r>
                      <a:endParaRPr lang="en-IN" sz="1100" kern="100" dirty="0">
                        <a:effectLst/>
                      </a:endParaRPr>
                    </a:p>
                    <a:p>
                      <a:pPr algn="ctr">
                        <a:lnSpc>
                          <a:spcPct val="150000"/>
                        </a:lnSpc>
                        <a:spcAft>
                          <a:spcPts val="800"/>
                        </a:spcAft>
                        <a:buNone/>
                        <a:tabLst>
                          <a:tab pos="640080" algn="l"/>
                        </a:tabLst>
                      </a:pPr>
                      <a:r>
                        <a:rPr lang="en-IN" sz="1200" kern="100" dirty="0">
                          <a:effectLst/>
                        </a:rPr>
                        <a:t>LOAD SWITCH</a:t>
                      </a:r>
                      <a:endParaRPr lang="en-IN" sz="1100" kern="100" dirty="0">
                        <a:effectLst/>
                      </a:endParaRPr>
                    </a:p>
                    <a:p>
                      <a:pPr algn="ctr">
                        <a:lnSpc>
                          <a:spcPct val="150000"/>
                        </a:lnSpc>
                        <a:spcAft>
                          <a:spcPts val="800"/>
                        </a:spcAft>
                        <a:buNone/>
                        <a:tabLst>
                          <a:tab pos="640080" algn="l"/>
                        </a:tabLst>
                      </a:pPr>
                      <a:r>
                        <a:rPr lang="en-IN" sz="1200" kern="100" dirty="0">
                          <a:effectLst/>
                        </a:rPr>
                        <a:t>ADC</a:t>
                      </a:r>
                      <a:endParaRPr lang="en-IN" sz="1100" kern="100" dirty="0">
                        <a:effectLst/>
                      </a:endParaRPr>
                    </a:p>
                    <a:p>
                      <a:pPr algn="ctr">
                        <a:lnSpc>
                          <a:spcPct val="150000"/>
                        </a:lnSpc>
                        <a:spcAft>
                          <a:spcPts val="800"/>
                        </a:spcAft>
                        <a:buNone/>
                        <a:tabLst>
                          <a:tab pos="640080" algn="l"/>
                        </a:tabLst>
                      </a:pPr>
                      <a:r>
                        <a:rPr lang="en-IN" sz="1200" kern="100" dirty="0">
                          <a:effectLst/>
                        </a:rPr>
                        <a:t>TEMPERATURE SENSOR</a:t>
                      </a:r>
                      <a:endParaRPr lang="en-IN" sz="1100" kern="100" dirty="0">
                        <a:effectLst/>
                      </a:endParaRPr>
                    </a:p>
                    <a:p>
                      <a:pPr algn="ctr">
                        <a:lnSpc>
                          <a:spcPct val="150000"/>
                        </a:lnSpc>
                        <a:spcAft>
                          <a:spcPts val="800"/>
                        </a:spcAft>
                        <a:buNone/>
                        <a:tabLst>
                          <a:tab pos="640080" algn="l"/>
                        </a:tabLst>
                      </a:pPr>
                      <a:r>
                        <a:rPr lang="en-IN" sz="1200" kern="100" dirty="0">
                          <a:effectLst/>
                        </a:rPr>
                        <a:t>OSCILLATOR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Output current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80%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38935141"/>
                  </a:ext>
                </a:extLst>
              </a:tr>
              <a:tr h="287604">
                <a:tc vMerge="1">
                  <a:txBody>
                    <a:bodyPr/>
                    <a:lstStyle/>
                    <a:p>
                      <a:endParaRPr lang="en-IN"/>
                    </a:p>
                  </a:txBody>
                  <a:tcPr/>
                </a:tc>
                <a:tc>
                  <a:txBody>
                    <a:bodyPr/>
                    <a:lstStyle/>
                    <a:p>
                      <a:pPr algn="ctr">
                        <a:lnSpc>
                          <a:spcPct val="150000"/>
                        </a:lnSpc>
                        <a:spcAft>
                          <a:spcPts val="800"/>
                        </a:spcAft>
                        <a:buNone/>
                        <a:tabLst>
                          <a:tab pos="640080" algn="l"/>
                        </a:tabLst>
                      </a:pPr>
                      <a:r>
                        <a:rPr lang="en-IN" sz="1200" kern="100" dirty="0">
                          <a:effectLst/>
                        </a:rPr>
                        <a:t>Supply voltage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90%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009731"/>
                  </a:ext>
                </a:extLst>
              </a:tr>
              <a:tr h="287604">
                <a:tc vMerge="1">
                  <a:txBody>
                    <a:bodyPr/>
                    <a:lstStyle/>
                    <a:p>
                      <a:endParaRPr lang="en-IN"/>
                    </a:p>
                  </a:txBody>
                  <a:tcPr/>
                </a:tc>
                <a:tc>
                  <a:txBody>
                    <a:bodyPr/>
                    <a:lstStyle/>
                    <a:p>
                      <a:pPr algn="ctr">
                        <a:lnSpc>
                          <a:spcPct val="150000"/>
                        </a:lnSpc>
                        <a:spcAft>
                          <a:spcPts val="800"/>
                        </a:spcAft>
                        <a:buNone/>
                        <a:tabLst>
                          <a:tab pos="640080" algn="l"/>
                        </a:tabLst>
                      </a:pPr>
                      <a:r>
                        <a:rPr lang="en-IN" sz="1200" kern="100">
                          <a:effectLst/>
                        </a:rPr>
                        <a:t>Junction temperature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110˚C</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62007467"/>
                  </a:ext>
                </a:extLst>
              </a:tr>
              <a:tr h="287604">
                <a:tc vMerge="1">
                  <a:txBody>
                    <a:bodyPr/>
                    <a:lstStyle/>
                    <a:p>
                      <a:endParaRPr lang="en-IN"/>
                    </a:p>
                  </a:txBody>
                  <a:tcPr/>
                </a:tc>
                <a:tc>
                  <a:txBody>
                    <a:bodyPr/>
                    <a:lstStyle/>
                    <a:p>
                      <a:pPr algn="ctr">
                        <a:lnSpc>
                          <a:spcPct val="150000"/>
                        </a:lnSpc>
                        <a:spcAft>
                          <a:spcPts val="800"/>
                        </a:spcAft>
                        <a:buNone/>
                        <a:tabLst>
                          <a:tab pos="640080" algn="l"/>
                        </a:tabLst>
                      </a:pPr>
                      <a:r>
                        <a:rPr lang="en-IN" sz="1200" kern="100">
                          <a:effectLst/>
                        </a:rPr>
                        <a:t>Power dissipation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a:effectLst/>
                        </a:rPr>
                        <a:t>80%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5798870"/>
                  </a:ext>
                </a:extLst>
              </a:tr>
              <a:tr h="1334678">
                <a:tc vMerge="1">
                  <a:txBody>
                    <a:bodyPr/>
                    <a:lstStyle/>
                    <a:p>
                      <a:endParaRPr lang="en-IN"/>
                    </a:p>
                  </a:txBody>
                  <a:tcPr/>
                </a:tc>
                <a:tc>
                  <a:txBody>
                    <a:bodyPr/>
                    <a:lstStyle/>
                    <a:p>
                      <a:pPr algn="ctr">
                        <a:lnSpc>
                          <a:spcPct val="150000"/>
                        </a:lnSpc>
                        <a:spcAft>
                          <a:spcPts val="800"/>
                        </a:spcAft>
                        <a:buNone/>
                        <a:tabLst>
                          <a:tab pos="640080" algn="l"/>
                        </a:tabLst>
                      </a:pPr>
                      <a:r>
                        <a:rPr lang="en-IN" sz="1200" kern="100">
                          <a:effectLst/>
                        </a:rPr>
                        <a:t> </a:t>
                      </a:r>
                      <a:endParaRPr lang="en-IN" sz="1100" kern="100">
                        <a:effectLst/>
                      </a:endParaRPr>
                    </a:p>
                    <a:p>
                      <a:pPr algn="ctr">
                        <a:lnSpc>
                          <a:spcPct val="150000"/>
                        </a:lnSpc>
                        <a:spcAft>
                          <a:spcPts val="800"/>
                        </a:spcAft>
                        <a:buNone/>
                        <a:tabLst>
                          <a:tab pos="640080" algn="l"/>
                        </a:tabLst>
                      </a:pPr>
                      <a:r>
                        <a:rPr lang="en-IN" sz="1200" kern="100">
                          <a:effectLst/>
                        </a:rPr>
                        <a:t>Input voltage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buNone/>
                        <a:tabLst>
                          <a:tab pos="640080" algn="l"/>
                        </a:tabLst>
                      </a:pPr>
                      <a:r>
                        <a:rPr lang="en-IN" sz="1200" kern="100" dirty="0">
                          <a:effectLst/>
                        </a:rPr>
                        <a:t>As per the Manufacturer recommendation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1885906"/>
                  </a:ext>
                </a:extLst>
              </a:tr>
            </a:tbl>
          </a:graphicData>
        </a:graphic>
      </p:graphicFrame>
      <p:sp>
        <p:nvSpPr>
          <p:cNvPr id="5" name="Rectangle 1">
            <a:extLst>
              <a:ext uri="{FF2B5EF4-FFF2-40B4-BE49-F238E27FC236}">
                <a16:creationId xmlns:a16="http://schemas.microsoft.com/office/drawing/2014/main" id="{FA9C3E5E-B915-DEB3-1B96-356C8C9C70E7}"/>
              </a:ext>
            </a:extLst>
          </p:cNvPr>
          <p:cNvSpPr>
            <a:spLocks noChangeArrowheads="1"/>
          </p:cNvSpPr>
          <p:nvPr/>
        </p:nvSpPr>
        <p:spPr bwMode="auto">
          <a:xfrm>
            <a:off x="3118285" y="3088855"/>
            <a:ext cx="2965877"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639763" algn="l"/>
              </a:tabLst>
              <a:defRPr>
                <a:solidFill>
                  <a:schemeClr val="tx1"/>
                </a:solidFill>
                <a:latin typeface="Arial" panose="020B0604020202020204" pitchFamily="34" charset="0"/>
              </a:defRPr>
            </a:lvl1pPr>
            <a:lvl2pPr eaLnBrk="0" fontAlgn="base" hangingPunct="0">
              <a:spcBef>
                <a:spcPct val="0"/>
              </a:spcBef>
              <a:spcAft>
                <a:spcPct val="0"/>
              </a:spcAft>
              <a:tabLst>
                <a:tab pos="639763" algn="l"/>
              </a:tabLst>
              <a:defRPr>
                <a:solidFill>
                  <a:schemeClr val="tx1"/>
                </a:solidFill>
                <a:latin typeface="Arial" panose="020B0604020202020204" pitchFamily="34" charset="0"/>
              </a:defRPr>
            </a:lvl2pPr>
            <a:lvl3pPr eaLnBrk="0" fontAlgn="base" hangingPunct="0">
              <a:spcBef>
                <a:spcPct val="0"/>
              </a:spcBef>
              <a:spcAft>
                <a:spcPct val="0"/>
              </a:spcAft>
              <a:tabLst>
                <a:tab pos="639763" algn="l"/>
              </a:tabLst>
              <a:defRPr>
                <a:solidFill>
                  <a:schemeClr val="tx1"/>
                </a:solidFill>
                <a:latin typeface="Arial" panose="020B0604020202020204" pitchFamily="34" charset="0"/>
              </a:defRPr>
            </a:lvl3pPr>
            <a:lvl4pPr eaLnBrk="0" fontAlgn="base" hangingPunct="0">
              <a:spcBef>
                <a:spcPct val="0"/>
              </a:spcBef>
              <a:spcAft>
                <a:spcPct val="0"/>
              </a:spcAft>
              <a:tabLst>
                <a:tab pos="639763" algn="l"/>
              </a:tabLst>
              <a:defRPr>
                <a:solidFill>
                  <a:schemeClr val="tx1"/>
                </a:solidFill>
                <a:latin typeface="Arial" panose="020B0604020202020204" pitchFamily="34" charset="0"/>
              </a:defRPr>
            </a:lvl4pPr>
            <a:lvl5pPr eaLnBrk="0" fontAlgn="base" hangingPunct="0">
              <a:spcBef>
                <a:spcPct val="0"/>
              </a:spcBef>
              <a:spcAft>
                <a:spcPct val="0"/>
              </a:spcAft>
              <a:tabLst>
                <a:tab pos="639763" algn="l"/>
              </a:tabLst>
              <a:defRPr>
                <a:solidFill>
                  <a:schemeClr val="tx1"/>
                </a:solidFill>
                <a:latin typeface="Arial" panose="020B0604020202020204" pitchFamily="34" charset="0"/>
              </a:defRPr>
            </a:lvl5pPr>
            <a:lvl6pPr eaLnBrk="0" fontAlgn="base" hangingPunct="0">
              <a:spcBef>
                <a:spcPct val="0"/>
              </a:spcBef>
              <a:spcAft>
                <a:spcPct val="0"/>
              </a:spcAft>
              <a:tabLst>
                <a:tab pos="639763" algn="l"/>
              </a:tabLst>
              <a:defRPr>
                <a:solidFill>
                  <a:schemeClr val="tx1"/>
                </a:solidFill>
                <a:latin typeface="Arial" panose="020B0604020202020204" pitchFamily="34" charset="0"/>
              </a:defRPr>
            </a:lvl6pPr>
            <a:lvl7pPr eaLnBrk="0" fontAlgn="base" hangingPunct="0">
              <a:spcBef>
                <a:spcPct val="0"/>
              </a:spcBef>
              <a:spcAft>
                <a:spcPct val="0"/>
              </a:spcAft>
              <a:tabLst>
                <a:tab pos="639763" algn="l"/>
              </a:tabLst>
              <a:defRPr>
                <a:solidFill>
                  <a:schemeClr val="tx1"/>
                </a:solidFill>
                <a:latin typeface="Arial" panose="020B0604020202020204" pitchFamily="34" charset="0"/>
              </a:defRPr>
            </a:lvl7pPr>
            <a:lvl8pPr eaLnBrk="0" fontAlgn="base" hangingPunct="0">
              <a:spcBef>
                <a:spcPct val="0"/>
              </a:spcBef>
              <a:spcAft>
                <a:spcPct val="0"/>
              </a:spcAft>
              <a:tabLst>
                <a:tab pos="639763" algn="l"/>
              </a:tabLst>
              <a:defRPr>
                <a:solidFill>
                  <a:schemeClr val="tx1"/>
                </a:solidFill>
                <a:latin typeface="Arial" panose="020B0604020202020204" pitchFamily="34" charset="0"/>
              </a:defRPr>
            </a:lvl8pPr>
            <a:lvl9pPr eaLnBrk="0" fontAlgn="base" hangingPunct="0">
              <a:spcBef>
                <a:spcPct val="0"/>
              </a:spcBef>
              <a:spcAft>
                <a:spcPct val="0"/>
              </a:spcAft>
              <a:tabLst>
                <a:tab pos="639763"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639763" algn="l"/>
              </a:tabLst>
            </a:pPr>
            <a:r>
              <a:rPr kumimoji="0" lang="en-US" altLang="en-US" sz="12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Derating Parameters and </a:t>
            </a:r>
            <a:r>
              <a:rPr kumimoji="0" lang="en-US" altLang="en-US" sz="12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Derating factors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39763"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569224B-88C6-36F0-169F-5817519F7AB5}"/>
              </a:ext>
            </a:extLst>
          </p:cNvPr>
          <p:cNvSpPr txBox="1"/>
          <p:nvPr/>
        </p:nvSpPr>
        <p:spPr>
          <a:xfrm>
            <a:off x="572729" y="1449811"/>
            <a:ext cx="7998542" cy="1754326"/>
          </a:xfrm>
          <a:prstGeom prst="rect">
            <a:avLst/>
          </a:prstGeom>
          <a:noFill/>
        </p:spPr>
        <p:txBody>
          <a:bodyPr wrap="square" rtlCol="0">
            <a:spAutoFit/>
          </a:bodyPr>
          <a:lstStyle/>
          <a:p>
            <a:pPr algn="just"/>
            <a:r>
              <a:rPr lang="en-US" altLang="en-US" dirty="0">
                <a:latin typeface="Times New Roman" panose="02020603050405020304" pitchFamily="18" charset="0"/>
                <a:ea typeface="Calibri" panose="020F0502020204030204" pitchFamily="34" charset="0"/>
                <a:cs typeface="Times New Roman" panose="02020603050405020304" pitchFamily="18" charset="0"/>
              </a:rPr>
              <a:t>As a demonstration, a derating analysis has been performed on one of the functional modules within the Integrated Avionics Package (IAP). The IAP serves as a unified system that combines the capabilities of the On-board Computer, Data Handling Unit, Storage Module, Satellite Navigation Subsystem, and Telemetry, Tracking, and Command (TMTC) transceiver for signal modulation and demodulation.</a:t>
            </a:r>
            <a:endParaRPr lang="en-US" altLang="en-US" sz="800" dirty="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57200" y="1690689"/>
            <a:ext cx="8229600" cy="4525963"/>
          </a:xfrm>
        </p:spPr>
        <p:txBody>
          <a:bodyPr>
            <a:noAutofit/>
          </a:bodyPr>
          <a:lstStyle/>
          <a:p>
            <a:pPr marL="0" indent="0" algn="just">
              <a:buNone/>
            </a:pPr>
            <a:r>
              <a:rPr lang="en-US" sz="2200" dirty="0">
                <a:latin typeface="Times New Roman" panose="02020603050405020304" pitchFamily="18" charset="0"/>
                <a:cs typeface="Times New Roman" panose="02020603050405020304" pitchFamily="18" charset="0"/>
              </a:rPr>
              <a:t>A clear understanding of reliability assessment and design methodologies essential for SoC-based satellite systems was developed through practical engagement with digital–RF integrated architectures.</a:t>
            </a:r>
          </a:p>
          <a:p>
            <a:pPr marL="0" indent="0" algn="just">
              <a:buNone/>
            </a:pPr>
            <a:endParaRPr lang="en-US" sz="10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Work involved integrating digital and RF subsystems within a single chip to enhance performance, reduce hardware footprint, and improve data handling efficiency. Derating analysis showed that reducing component stress significantly increases mission lifetime.</a:t>
            </a:r>
          </a:p>
          <a:p>
            <a:pPr marL="0" indent="0" algn="just">
              <a:buNone/>
            </a:pPr>
            <a:endParaRPr lang="en-US" sz="10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The study also established concise design and layout guidelines for mixed-signal SoC integration addressing substrate noise isolation, signal integrity, and thermal management forming a strong foundation for future space-grade digital-RF SoC developments.</a:t>
            </a:r>
            <a:endParaRPr lang="en-IN"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627EA2B-4B42-A08C-71E1-88BE463D7BFD}"/>
              </a:ext>
            </a:extLst>
          </p:cNvPr>
          <p:cNvSpPr>
            <a:spLocks noGrp="1"/>
          </p:cNvSpPr>
          <p:nvPr>
            <p:ph type="dt" sz="half" idx="10"/>
          </p:nvPr>
        </p:nvSpPr>
        <p:spPr/>
        <p:txBody>
          <a:bodyPr/>
          <a:lstStyle/>
          <a:p>
            <a:fld id="{09FD4169-640A-4DBD-9AE5-5D1ED1A6E16F}" type="datetime1">
              <a:rPr lang="en-US" smtClean="0"/>
              <a:t>11/14/2025</a:t>
            </a:fld>
            <a:endParaRPr lang="en-US"/>
          </a:p>
        </p:txBody>
      </p:sp>
      <p:sp>
        <p:nvSpPr>
          <p:cNvPr id="5" name="Footer Placeholder 4">
            <a:extLst>
              <a:ext uri="{FF2B5EF4-FFF2-40B4-BE49-F238E27FC236}">
                <a16:creationId xmlns:a16="http://schemas.microsoft.com/office/drawing/2014/main" id="{5C6F114F-3384-350C-AF2F-CF5B238BF825}"/>
              </a:ext>
            </a:extLst>
          </p:cNvPr>
          <p:cNvSpPr>
            <a:spLocks noGrp="1"/>
          </p:cNvSpPr>
          <p:nvPr>
            <p:ph type="ftr" sz="quarter" idx="11"/>
          </p:nvPr>
        </p:nvSpPr>
        <p:spPr>
          <a:xfrm>
            <a:off x="1592826" y="6356350"/>
            <a:ext cx="6184490"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278FBC97-245E-6369-1942-26654CAC7544}"/>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[1] M. Wirthlin, “High-Reliability FPGA-Based Systems: Space, High-Energy Physics, and Beyond,” </a:t>
            </a:r>
            <a:r>
              <a:rPr lang="en-IN" i="1" dirty="0">
                <a:latin typeface="Times New Roman" panose="02020603050405020304" pitchFamily="18" charset="0"/>
                <a:cs typeface="Times New Roman" panose="02020603050405020304" pitchFamily="18" charset="0"/>
              </a:rPr>
              <a:t>Proceedings of the IEEE</a:t>
            </a:r>
            <a:r>
              <a:rPr lang="en-IN" dirty="0">
                <a:latin typeface="Times New Roman" panose="02020603050405020304" pitchFamily="18" charset="0"/>
                <a:cs typeface="Times New Roman" panose="02020603050405020304" pitchFamily="18" charset="0"/>
              </a:rPr>
              <a:t>, vol. 103, no. 3, pp. 379–389, Mar. 2015.</a:t>
            </a:r>
          </a:p>
          <a:p>
            <a:pPr marL="0" indent="0">
              <a:buNone/>
            </a:pPr>
            <a:r>
              <a:rPr lang="en-IN" dirty="0">
                <a:latin typeface="Times New Roman" panose="02020603050405020304" pitchFamily="18" charset="0"/>
                <a:cs typeface="Times New Roman" panose="02020603050405020304" pitchFamily="18" charset="0"/>
              </a:rPr>
              <a:t>[2] Haoming Du, “Radio Frequency System-on-Chip Design for Digital Receiver,” </a:t>
            </a:r>
            <a:r>
              <a:rPr lang="en-IN" i="1" dirty="0">
                <a:latin typeface="Times New Roman" panose="02020603050405020304" pitchFamily="18" charset="0"/>
                <a:cs typeface="Times New Roman" panose="02020603050405020304" pitchFamily="18" charset="0"/>
              </a:rPr>
              <a:t>IEEE Xplore</a:t>
            </a:r>
            <a:r>
              <a:rPr lang="en-IN" dirty="0">
                <a:latin typeface="Times New Roman" panose="02020603050405020304" pitchFamily="18" charset="0"/>
                <a:cs typeface="Times New Roman" panose="02020603050405020304" pitchFamily="18" charset="0"/>
              </a:rPr>
              <a:t>, pp. 353-356, Nov. 2018. Francesco Restuccia</a:t>
            </a:r>
          </a:p>
          <a:p>
            <a:pPr marL="0" indent="0">
              <a:buNone/>
            </a:pPr>
            <a:r>
              <a:rPr lang="en-IN" dirty="0">
                <a:latin typeface="Times New Roman" panose="02020603050405020304" pitchFamily="18" charset="0"/>
                <a:cs typeface="Times New Roman" panose="02020603050405020304" pitchFamily="18" charset="0"/>
              </a:rPr>
              <a:t>[3] Francesco Restuccia, “Cut and Forward: Safe and Secure Communication for System on Chip” </a:t>
            </a:r>
            <a:r>
              <a:rPr lang="en-IN" i="1" dirty="0">
                <a:latin typeface="Times New Roman" panose="02020603050405020304" pitchFamily="18" charset="0"/>
                <a:cs typeface="Times New Roman" panose="02020603050405020304" pitchFamily="18" charset="0"/>
              </a:rPr>
              <a:t>IEEE Transaction, </a:t>
            </a:r>
            <a:r>
              <a:rPr lang="en-IN" dirty="0">
                <a:latin typeface="Times New Roman" panose="02020603050405020304" pitchFamily="18" charset="0"/>
                <a:cs typeface="Times New Roman" panose="02020603050405020304" pitchFamily="18" charset="0"/>
              </a:rPr>
              <a:t>vol. 41, no.11, pp. 4052-4063, Nov. 2022</a:t>
            </a:r>
          </a:p>
          <a:p>
            <a:pPr marL="0" indent="0">
              <a:buNone/>
            </a:pPr>
            <a:r>
              <a:rPr lang="en-IN" dirty="0">
                <a:latin typeface="Times New Roman" panose="02020603050405020304" pitchFamily="18" charset="0"/>
                <a:cs typeface="Times New Roman" panose="02020603050405020304" pitchFamily="18" charset="0"/>
              </a:rPr>
              <a:t>[4] F. Restuccia and A. Biondi, “Time-predictable acceleration of deep neural networks on FPGA SoC platforms,” in Proc. IEEE Real-Time Syst. Symp. (RTSS), 2021, pp. 441–454.</a:t>
            </a:r>
          </a:p>
          <a:p>
            <a:pPr marL="0" indent="0">
              <a:buNone/>
            </a:pPr>
            <a:r>
              <a:rPr lang="en-IN" dirty="0">
                <a:latin typeface="Times New Roman" panose="02020603050405020304" pitchFamily="18" charset="0"/>
                <a:cs typeface="Times New Roman" panose="02020603050405020304" pitchFamily="18" charset="0"/>
              </a:rPr>
              <a:t>[5] NASA, “2020 Technology Taxonomy.” [Online]. Available: </a:t>
            </a:r>
            <a:r>
              <a:rPr lang="en-IN" u="sng" dirty="0">
                <a:latin typeface="Times New Roman" panose="02020603050405020304" pitchFamily="18" charset="0"/>
                <a:cs typeface="Times New Roman" panose="02020603050405020304" pitchFamily="18" charset="0"/>
                <a:hlinkClick r:id="rId2"/>
              </a:rPr>
              <a:t>https://www.nasa.gov/sites/default/files/atoms/files/2020_nasa_technology_taxonomy.pdf</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252BC86-A30D-BDC2-E9D9-C89AB01F79BE}"/>
              </a:ext>
            </a:extLst>
          </p:cNvPr>
          <p:cNvSpPr>
            <a:spLocks noGrp="1"/>
          </p:cNvSpPr>
          <p:nvPr>
            <p:ph type="dt" sz="half" idx="10"/>
          </p:nvPr>
        </p:nvSpPr>
        <p:spPr/>
        <p:txBody>
          <a:bodyPr/>
          <a:lstStyle/>
          <a:p>
            <a:fld id="{59A629CF-0B8C-4967-A5CB-AA559FCBBAA4}" type="datetime1">
              <a:rPr lang="en-US" smtClean="0"/>
              <a:t>11/14/2025</a:t>
            </a:fld>
            <a:endParaRPr lang="en-US"/>
          </a:p>
        </p:txBody>
      </p:sp>
      <p:sp>
        <p:nvSpPr>
          <p:cNvPr id="5" name="Footer Placeholder 4">
            <a:extLst>
              <a:ext uri="{FF2B5EF4-FFF2-40B4-BE49-F238E27FC236}">
                <a16:creationId xmlns:a16="http://schemas.microsoft.com/office/drawing/2014/main" id="{9E2B6684-9BA6-F293-ACAD-532293DE59BE}"/>
              </a:ext>
            </a:extLst>
          </p:cNvPr>
          <p:cNvSpPr>
            <a:spLocks noGrp="1"/>
          </p:cNvSpPr>
          <p:nvPr>
            <p:ph type="ftr" sz="quarter" idx="11"/>
          </p:nvPr>
        </p:nvSpPr>
        <p:spPr>
          <a:xfrm>
            <a:off x="1730477" y="6361061"/>
            <a:ext cx="5987846" cy="365125"/>
          </a:xfrm>
        </p:spPr>
        <p:txBody>
          <a:bodyPr/>
          <a:lstStyle/>
          <a:p>
            <a:r>
              <a:rPr lang="en-US" dirty="0"/>
              <a:t>STUDY ON DESIGN FOR RELIABILITY CONSIDERATION OF SoC FOR SPACE APPLICATION</a:t>
            </a:r>
          </a:p>
        </p:txBody>
      </p:sp>
      <p:sp>
        <p:nvSpPr>
          <p:cNvPr id="6" name="Slide Number Placeholder 5">
            <a:extLst>
              <a:ext uri="{FF2B5EF4-FFF2-40B4-BE49-F238E27FC236}">
                <a16:creationId xmlns:a16="http://schemas.microsoft.com/office/drawing/2014/main" id="{2C92790A-089D-152E-7EB3-69509158D51E}"/>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319</TotalTime>
  <Words>1199</Words>
  <Application>Microsoft Office PowerPoint</Application>
  <PresentationFormat>On-screen Show (4:3)</PresentationFormat>
  <Paragraphs>116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STUDY ON DESIGN FOR RELIABILITY CONSIDERATION OF SoC FOR SPACE APPLICATION</vt:lpstr>
      <vt:lpstr>INTRODUCTION</vt:lpstr>
      <vt:lpstr>PowerPoint Presentation</vt:lpstr>
      <vt:lpstr>Objective of the Work</vt:lpstr>
      <vt:lpstr>System Overview</vt:lpstr>
      <vt:lpstr>PowerPoint Presentation</vt:lpstr>
      <vt:lpstr>System On Chip (SoC)</vt:lpstr>
      <vt:lpstr>PowerPoint Presentation</vt:lpstr>
      <vt:lpstr>Advantages</vt:lpstr>
      <vt:lpstr>Guidelines for Digital and RF Integration</vt:lpstr>
      <vt:lpstr>Results </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Monisha S</dc:creator>
  <cp:keywords/>
  <dc:description>generated using python-pptx</dc:description>
  <cp:lastModifiedBy>Monisha S</cp:lastModifiedBy>
  <cp:revision>5</cp:revision>
  <dcterms:created xsi:type="dcterms:W3CDTF">2013-01-27T09:14:16Z</dcterms:created>
  <dcterms:modified xsi:type="dcterms:W3CDTF">2025-11-14T13:45:47Z</dcterms:modified>
  <cp:category/>
</cp:coreProperties>
</file>